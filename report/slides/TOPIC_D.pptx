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d7a26851baf43aa" /><Relationship Type="http://schemas.openxmlformats.org/officeDocument/2006/relationships/extended-properties" Target="/docProps/app.xml" Id="R20a7ac7c933b498a" /><Relationship Type="http://schemas.openxmlformats.org/officeDocument/2006/relationships/officeDocument" Target="/ppt/presentation.xml" Id="Rbc85a1ffdd4c4cf8" /></Relationships>
</file>

<file path=ppt/presentation.xml><?xml version="1.0" encoding="utf-8"?>
<p:presentation xmlns:p="http://schemas.openxmlformats.org/presentationml/2006/main">
  <p:sldMasterIdLst>
    <p:sldMasterId xmlns:r="http://schemas.openxmlformats.org/officeDocument/2006/relationships" id="2147483648" r:id="Rfc85b2e9f8fd4445"/>
  </p:sldMasterIdLst>
  <p:notesMasterIdLst>
    <p:notesMasterId xmlns:r="http://schemas.openxmlformats.org/officeDocument/2006/relationships" r:id="R0fb1ab916683413b"/>
  </p:notesMasterIdLst>
  <p:sldIdLst>
    <p:sldId xmlns:r="http://schemas.openxmlformats.org/officeDocument/2006/relationships" id="256" r:id="R667eb56b60e34d24"/>
    <p:sldId xmlns:r="http://schemas.openxmlformats.org/officeDocument/2006/relationships" id="257" r:id="R6710ad6ace5645a1"/>
    <p:sldId xmlns:r="http://schemas.openxmlformats.org/officeDocument/2006/relationships" id="258" r:id="R022a3b9ffe1d4e80"/>
    <p:sldId xmlns:r="http://schemas.openxmlformats.org/officeDocument/2006/relationships" id="259" r:id="Rc837c21e642f4ba2"/>
    <p:sldId xmlns:r="http://schemas.openxmlformats.org/officeDocument/2006/relationships" id="260" r:id="Raed8e26194ca412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04b337dd6704f7b" /><Relationship Type="http://schemas.openxmlformats.org/officeDocument/2006/relationships/slideMaster" Target="/ppt/slideMasters/slideMaster1.xml" Id="Rfc85b2e9f8fd4445" /><Relationship Type="http://schemas.openxmlformats.org/officeDocument/2006/relationships/notesMaster" Target="/ppt/notesMasters/notesMaster1.xml" Id="R0fb1ab916683413b" /><Relationship Type="http://schemas.openxmlformats.org/officeDocument/2006/relationships/presProps" Target="/ppt/presProps.xml" Id="R067a041b93424594" /><Relationship Type="http://schemas.openxmlformats.org/officeDocument/2006/relationships/tableStyles" Target="/ppt/tableStyles.xml" Id="Rd8f3e5a8340f40b1" /><Relationship Type="http://schemas.openxmlformats.org/officeDocument/2006/relationships/slide" Target="/ppt/slides/slide1.xml" Id="R667eb56b60e34d24" /><Relationship Type="http://schemas.openxmlformats.org/officeDocument/2006/relationships/slide" Target="/ppt/slides/slide2.xml" Id="R6710ad6ace5645a1" /><Relationship Type="http://schemas.openxmlformats.org/officeDocument/2006/relationships/slide" Target="/ppt/slides/slide3.xml" Id="R022a3b9ffe1d4e80" /><Relationship Type="http://schemas.openxmlformats.org/officeDocument/2006/relationships/slide" Target="/ppt/slides/slide4.xml" Id="Rc837c21e642f4ba2" /><Relationship Type="http://schemas.openxmlformats.org/officeDocument/2006/relationships/slide" Target="/ppt/slides/slide5.xml" Id="Raed8e26194ca412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11a0c4ac72540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fa1574409c54dfd" /><Relationship Type="http://schemas.openxmlformats.org/officeDocument/2006/relationships/notesMaster" Target="/ppt/notesMasters/notesMaster1.xml" Id="R2978ab9e6a284ee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2cc1a3f3b194eb8" /><Relationship Type="http://schemas.openxmlformats.org/officeDocument/2006/relationships/notesMaster" Target="/ppt/notesMasters/notesMaster1.xml" Id="R980288b025c340c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257208d1f2e4ee3" /><Relationship Type="http://schemas.openxmlformats.org/officeDocument/2006/relationships/notesMaster" Target="/ppt/notesMasters/notesMaster1.xml" Id="R0217d2c40dae4f5f" /></Relationships>
</file>

<file path=ppt/notesSlides/_rels/notesSlide4.xml.rels>&#65279;<?xml version="1.0" encoding="utf-8"?><Relationships xmlns="http://schemas.openxmlformats.org/package/2006/relationships"><Relationship Type="http://schemas.openxmlformats.org/officeDocument/2006/relationships/slide" Target="/ppt/slides/slide4.xml" Id="Ra4f791e1e05a4468" /><Relationship Type="http://schemas.openxmlformats.org/officeDocument/2006/relationships/notesMaster" Target="/ppt/notesMasters/notesMaster1.xml" Id="Rfb2f9f230d5047d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b0ccbdc5d2e433f" /><Relationship Type="http://schemas.openxmlformats.org/officeDocument/2006/relationships/notesMaster" Target="/ppt/notesMasters/notesMaster1.xml" Id="R8d53b4ad8a3d45a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0:00–0:30. Tống Trần Tiến Dũng, MSSV 2A202602791. Dữ liệu thật KITTI: 000008, 000011, 000049. Xem bốn bước từ trái qua phải. Trục x LiDAR hướng trước, y trái, z lên. Ground fit chỉ dùng điểm thấp để tránh chọn tường. Nguồn API: https://www.open3d.org/docs/release/tutorial/geometry/pointcloud.html. Ảnh: results/figures/obstacle_demo_000011.png.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0:30–1:05. Claim CP1 dự kiến ít nhất 2/3; đo được cả 3/3. Mỗi lần chỉ đổi eps, cố định voxel .15, ground .1, min_points 10, ROI và seed. Số cụm ít hơn không tương đương độ chính xác cao hơn. Noise cũng có thể ít hơn và nhiều vật bị nối thành một cụm. Source: results/obstacle_sweep.csv, sweep=eps.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1:05–1:40. Quét threshold độc lập .05/.1/.3, cố định eps=.5. Frame000008 có số cụm tăng 32 lên39 khi điểm giữ lại giảm, vì loại điểm cầu nối có thể tách cụm. Kích thước từng AABB nằm trong obstacle_clusters.csv. Latency bỏ warm-up và đo20 lần mỗi cấu hình, p50/p95 không gồm IO/plot/GT. CPU 11th Gen Intel(R) Core(TM) i5-1135G7 @ 2.40GHz, RAM 7.7GiB, OMP1, không GPU. Source: results/obstacle_sweep.csv and results/obstacle_latency.csv.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1:40–2:20. KITTI000011 GT#0 và#1 ở13.41/14.48m. Thí nghiệm riêng dùng min_points5 ở cả hai bên, benchmark dùng10; chỉ thay eps .5→.8. Cụm trội táchC7/C47 với61/8 điểm; sau đó cùngC5 với61/13. Baseline không hoàn hảo: một số điểm của người thứ2 đã vào cụm khác. Lỗi Preprocess do kết nối mật độ, không phải calibration hay Time. Gộp instance không đồng nghĩa đường trống. Source: results/failure_merge.csv, results/failure_merge.json.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2:20–3:00. Khởi đầu thử .15m voxel/.1ground/.5eps, chưa chứng nhận an toàn. Đề xuất robot chậm .5m/s. Log plane tilt, n_roi, noise, cluster extent, nearest và p95. Đất .3 có thể bỏ vật thấp, cần test pallet/người ngồi trên log kho. Cờ p95&gt;200ms hoặc fit lỗi thì giảm tốc/dừng kiểm tra; nearest phải trừ footprint và dùng quãng đường phanh. Chạy python-m src.experiment, src.failure, check_submission. Occupancy ô vắng là unknown. Nguồn: REPORT mục4 và results/hardware.json. Học viên cần tự đọc và giải thích code; AI đã được khai báo.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80398420544f3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c8f6bf47af44c8f" /><Relationship Type="http://schemas.openxmlformats.org/officeDocument/2006/relationships/slideLayout" Target="/ppt/slideLayouts/slideLayout1.xml" Id="R9bd9b7155a61403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bd9b7155a61403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576942098a44edd" /><Relationship Type="http://schemas.openxmlformats.org/officeDocument/2006/relationships/image" Target="/ppt/media/image.png" Id="R9a44d54a363d467a" /><Relationship Type="http://schemas.openxmlformats.org/officeDocument/2006/relationships/notesSlide" Target="/ppt/notesSlides/notesSlide1.xml" Id="R3169573202294f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7fbf43ad9d740d4" /><Relationship Type="http://schemas.openxmlformats.org/officeDocument/2006/relationships/chart" Target="/ppt/slides/charts/chart1.xml" Id="R07a620435beb4aea" /><Relationship Type="http://schemas.openxmlformats.org/officeDocument/2006/relationships/notesSlide" Target="/ppt/notesSlides/notesSlide2.xml" Id="R5538958c868f44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075a29d18e94ea2" /><Relationship Type="http://schemas.openxmlformats.org/officeDocument/2006/relationships/notesSlide" Target="/ppt/notesSlides/notesSlide3.xml" Id="R09f70f001e574fa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393a3a0cf734baa" /><Relationship Type="http://schemas.openxmlformats.org/officeDocument/2006/relationships/image" Target="/ppt/media/image2.png" Id="R485ef9dfddb64d44" /><Relationship Type="http://schemas.openxmlformats.org/officeDocument/2006/relationships/notesSlide" Target="/ppt/notesSlides/notesSlide4.xml" Id="Rd8bfb35fc5a0419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9e0719698c04ba5" /><Relationship Type="http://schemas.openxmlformats.org/officeDocument/2006/relationships/notesSlide" Target="/ppt/notesSlides/notesSlide5.xml" Id="R41e6135a3d0e4ce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000008</c:v>
          </c:tx>
          <c:spPr>
            <a:ln xmlns:a="http://schemas.openxmlformats.org/drawingml/2006/main" w="28575">
              <a:solidFill>
                <a:srgbClr val="127A9C"/>
              </a:solidFill>
            </a:ln>
          </c:spPr>
          <c:marker>
            <c:symbol val="circle"/>
            <c:size val="8"/>
            <c:spPr>
              <a:solidFill xmlns:a="http://schemas.openxmlformats.org/drawingml/2006/main">
                <a:srgbClr val="127A9C"/>
              </a:solidFill>
            </c:spPr>
          </c:marker>
          <c:cat>
            <c:numRef>
              <c:f>'Chart Data'!$A$2:$A$4</c:f>
              <c:numCache>
                <c:formatCode>General</c:formatCode>
                <c:ptCount val="3"/>
                <c:pt idx="0">
                  <c:v>0.3</c:v>
                </c:pt>
                <c:pt idx="1">
                  <c:v>0.5</c:v>
                </c:pt>
                <c:pt idx="2">
                  <c:v>0.8</c:v>
                </c:pt>
              </c:numCache>
            </c:numRef>
          </c:cat>
          <c:val>
            <c:numRef>
              <c:f>'Chart Data'!$B$2:$B$4</c:f>
              <c:numCache>
                <c:formatCode>General</c:formatCode>
                <c:ptCount val="3"/>
                <c:pt idx="0">
                  <c:v>74</c:v>
                </c:pt>
                <c:pt idx="1">
                  <c:v>34</c:v>
                </c:pt>
                <c:pt idx="2">
                  <c:v>19</c:v>
                </c:pt>
              </c:numCache>
            </c:numRef>
          </c:val>
          <c:smooth val="0"/>
        </c:ser>
        <c:ser>
          <c:idx val="1"/>
          <c:order val="1"/>
          <c:tx>
            <c:v>000011</c:v>
          </c:tx>
          <c:spPr>
            <a:ln xmlns:a="http://schemas.openxmlformats.org/drawingml/2006/main" w="28575">
              <a:solidFill>
                <a:srgbClr val="D57832"/>
              </a:solidFill>
            </a:ln>
          </c:spPr>
          <c:marker>
            <c:symbol val="circle"/>
            <c:size val="8"/>
            <c:spPr>
              <a:solidFill xmlns:a="http://schemas.openxmlformats.org/drawingml/2006/main">
                <a:srgbClr val="D57832"/>
              </a:solidFill>
            </c:spPr>
          </c:marker>
          <c:cat>
            <c:numRef>
              <c:f>'Chart Data'!$C$2:$C$4</c:f>
              <c:numCache>
                <c:formatCode>General</c:formatCode>
                <c:ptCount val="3"/>
                <c:pt idx="0">
                  <c:v>0.3</c:v>
                </c:pt>
                <c:pt idx="1">
                  <c:v>0.5</c:v>
                </c:pt>
                <c:pt idx="2">
                  <c:v>0.8</c:v>
                </c:pt>
              </c:numCache>
            </c:numRef>
          </c:cat>
          <c:val>
            <c:numRef>
              <c:f>'Chart Data'!$D$2:$D$4</c:f>
              <c:numCache>
                <c:formatCode>General</c:formatCode>
                <c:ptCount val="3"/>
                <c:pt idx="0">
                  <c:v>57</c:v>
                </c:pt>
                <c:pt idx="1">
                  <c:v>39</c:v>
                </c:pt>
                <c:pt idx="2">
                  <c:v>34</c:v>
                </c:pt>
              </c:numCache>
            </c:numRef>
          </c:val>
          <c:smooth val="0"/>
        </c:ser>
        <c:ser>
          <c:idx val="2"/>
          <c:order val="2"/>
          <c:tx>
            <c:v>000049</c:v>
          </c:tx>
          <c:spPr>
            <a:ln xmlns:a="http://schemas.openxmlformats.org/drawingml/2006/main" w="28575">
              <a:solidFill>
                <a:srgbClr val="378467"/>
              </a:solidFill>
            </a:ln>
          </c:spPr>
          <c:marker>
            <c:symbol val="circle"/>
            <c:size val="8"/>
            <c:spPr>
              <a:solidFill xmlns:a="http://schemas.openxmlformats.org/drawingml/2006/main">
                <a:srgbClr val="378467"/>
              </a:solidFill>
            </c:spPr>
          </c:marker>
          <c:cat>
            <c:numRef>
              <c:f>'Chart Data'!$E$2:$E$4</c:f>
              <c:numCache>
                <c:formatCode>General</c:formatCode>
                <c:ptCount val="3"/>
                <c:pt idx="0">
                  <c:v>0.3</c:v>
                </c:pt>
                <c:pt idx="1">
                  <c:v>0.5</c:v>
                </c:pt>
                <c:pt idx="2">
                  <c:v>0.8</c:v>
                </c:pt>
              </c:numCache>
            </c:numRef>
          </c:cat>
          <c:val>
            <c:numRef>
              <c:f>'Chart Data'!$F$2:$F$4</c:f>
              <c:numCache>
                <c:formatCode>General</c:formatCode>
                <c:ptCount val="3"/>
                <c:pt idx="0">
                  <c:v>50</c:v>
                </c:pt>
                <c:pt idx="1">
                  <c:v>44</c:v>
                </c:pt>
                <c:pt idx="2">
                  <c:v>39</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DBSCAN eps (m)</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Số cụm</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333E20F-2803-43C1-A58E-95CBE3352534}"/>
              </a:ext>
            </a:extLst>
          </p:cNvPr>
          <p:cNvSpPr>
            <a:spLocks xmlns:a="http://schemas.openxmlformats.org/drawingml/2006/main" noGrp="1"/>
          </p:cNvSpPr>
          <p:nvPr/>
        </p:nvSpPr>
        <p:spPr>
          <a:xfrm xmlns:a="http://schemas.openxmlformats.org/drawingml/2006/main">
            <a:off x="457200" y="304800"/>
            <a:ext cx="11277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D3B"/>
                </a:solidFill>
                <a:latin typeface="Arial"/>
                <a:ea typeface="Arial"/>
                <a:cs typeface="Arial"/>
              </a:defRPr>
            </a:pPr>
            <a:r>
              <a:rPr sz="2850" b="1">
                <a:solidFill>
                  <a:srgbClr val="142D3B"/>
                </a:solidFill>
                <a:latin typeface="Arial"/>
                <a:ea typeface="Arial"/>
                <a:cs typeface="Arial"/>
              </a:rPr>
              <a:t>Topic D · Phát hiện vật cản từ LiDAR</a:t>
            </a:r>
          </a:p>
        </p:txBody>
      </p:sp>
      <p:sp>
        <p:nvSpPr>
          <p:cNvPr id="2" name="">
            <a:extLst xmlns:a="http://schemas.openxmlformats.org/drawingml/2006/main">
              <a:ext uri="{FF2B5EF4-FFF2-40B4-BE49-F238E27FC236}">
                <a16:creationId xmlns:a16="http://schemas.microsoft.com/office/drawing/2014/main" id="{98CB7EE9-30E6-4345-A634-C55E0C7A2629}"/>
              </a:ext>
            </a:extLst>
          </p:cNvPr>
          <p:cNvSpPr>
            <a:spLocks xmlns:a="http://schemas.openxmlformats.org/drawingml/2006/main" noGrp="1"/>
          </p:cNvSpPr>
          <p:nvPr/>
        </p:nvSpPr>
        <p:spPr>
          <a:xfrm xmlns:a="http://schemas.openxmlformats.org/drawingml/2006/main">
            <a:off x="476250" y="1114425"/>
            <a:ext cx="1123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874"/>
                </a:solidFill>
                <a:latin typeface="Arial"/>
                <a:ea typeface="Arial"/>
                <a:cs typeface="Arial"/>
              </a:defRPr>
            </a:pPr>
            <a:r>
              <a:rPr sz="1800" b="0">
                <a:solidFill>
                  <a:srgbClr val="526874"/>
                </a:solidFill>
                <a:latin typeface="Arial"/>
                <a:ea typeface="Arial"/>
                <a:cs typeface="Arial"/>
              </a:rPr>
              <a:t>Tống Trần Tiến Dũng · 2A202602791 · AI20K-T4</a:t>
            </a:r>
          </a:p>
        </p:txBody>
      </p:sp>
      <p:sp>
        <p:nvSpPr>
          <p:cNvPr id="3" name="">
            <a:extLst xmlns:a="http://schemas.openxmlformats.org/drawingml/2006/main">
              <a:ext uri="{FF2B5EF4-FFF2-40B4-BE49-F238E27FC236}">
                <a16:creationId xmlns:a16="http://schemas.microsoft.com/office/drawing/2014/main" id="{AAAE9466-0BDE-46BB-B7D6-0D0B4CC0A853}"/>
              </a:ext>
            </a:extLst>
          </p:cNvPr>
          <p:cNvSpPr>
            <a:spLocks xmlns:a="http://schemas.openxmlformats.org/drawingml/2006/main" noGrp="1"/>
          </p:cNvSpPr>
          <p:nvPr/>
        </p:nvSpPr>
        <p:spPr>
          <a:xfrm xmlns:a="http://schemas.openxmlformats.org/drawingml/2006/main">
            <a:off x="476250" y="1571625"/>
            <a:ext cx="1123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27A9C"/>
                </a:solidFill>
                <a:latin typeface="Arial"/>
                <a:ea typeface="Arial"/>
                <a:cs typeface="Arial"/>
              </a:defRPr>
            </a:pPr>
            <a:r>
              <a:rPr sz="2250" b="1">
                <a:solidFill>
                  <a:srgbClr val="127A9C"/>
                </a:solidFill>
                <a:latin typeface="Arial"/>
                <a:ea typeface="Arial"/>
                <a:cs typeface="Arial"/>
              </a:rPr>
              <a:t>Voxel → RANSAC tách đất → DBSCAN → AABB từng cụm</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a44d54a363d467a"/>
          <a:stretch xmlns:a="http://schemas.openxmlformats.org/drawingml/2006/main"/>
        </p:blipFill>
        <p:spPr>
          <a:xfrm xmlns:a="http://schemas.openxmlformats.org/drawingml/2006/main">
            <a:off x="1095375" y="2143125"/>
            <a:ext cx="10001250" cy="4000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0C211A5-ED0B-4D42-B389-29891CB56093}"/>
              </a:ext>
            </a:extLst>
          </p:cNvPr>
          <p:cNvSpPr>
            <a:spLocks xmlns:a="http://schemas.openxmlformats.org/drawingml/2006/main" noGrp="1"/>
          </p:cNvSpPr>
          <p:nvPr/>
        </p:nvSpPr>
        <p:spPr>
          <a:xfrm xmlns:a="http://schemas.openxmlformats.org/drawingml/2006/main">
            <a:off x="476250" y="6296025"/>
            <a:ext cx="1123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74"/>
                </a:solidFill>
                <a:latin typeface="Arial"/>
                <a:ea typeface="Arial"/>
                <a:cs typeface="Arial"/>
              </a:defRPr>
            </a:pPr>
            <a:r>
              <a:rPr sz="1650" b="0">
                <a:solidFill>
                  <a:srgbClr val="526874"/>
                </a:solidFill>
                <a:latin typeface="Arial"/>
                <a:ea typeface="Arial"/>
                <a:cs typeface="Arial"/>
              </a:rPr>
              <a:t>ROI: x 1–40 m · |y| ≤ 15 m · voxel 0.15 m · seed 42</a:t>
            </a:r>
          </a:p>
        </p:txBody>
      </p:sp>
    </p:spTree>
    <p:extLst>
      <p:ext uri="{BB962C8B-B14F-4D97-AF65-F5344CB8AC3E}">
        <p14:creationId xmlns:p14="http://schemas.microsoft.com/office/powerpoint/2010/main" val="40593224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A14B4A7-1161-4BDD-AA1D-8D03405673E4}"/>
              </a:ext>
            </a:extLst>
          </p:cNvPr>
          <p:cNvSpPr>
            <a:spLocks xmlns:a="http://schemas.openxmlformats.org/drawingml/2006/main" noGrp="1"/>
          </p:cNvSpPr>
          <p:nvPr/>
        </p:nvSpPr>
        <p:spPr>
          <a:xfrm xmlns:a="http://schemas.openxmlformats.org/drawingml/2006/main">
            <a:off x="457200" y="304800"/>
            <a:ext cx="11277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D3B"/>
                </a:solidFill>
                <a:latin typeface="Arial"/>
                <a:ea typeface="Arial"/>
                <a:cs typeface="Arial"/>
              </a:defRPr>
            </a:pPr>
            <a:r>
              <a:rPr sz="2850" b="1">
                <a:solidFill>
                  <a:srgbClr val="142D3B"/>
                </a:solidFill>
                <a:latin typeface="Arial"/>
                <a:ea typeface="Arial"/>
                <a:cs typeface="Arial"/>
              </a:rPr>
              <a:t>Tăng eps làm số cụm giảm ≥20% ở cả 3 frame</a:t>
            </a:r>
          </a:p>
        </p:txBody>
      </p:sp>
      <p:graphicFrame>
        <p:nvGraphicFramePr>
          <p:cNvPr id="11" name="Chart"/>
          <p:cNvGraphicFramePr/>
          <p:nvPr/>
        </p:nvGraphicFramePr>
        <p:xfrm>
          <a:off xmlns:a="http://schemas.openxmlformats.org/drawingml/2006/main" x="400050" y="1514475"/>
          <a:ext xmlns:a="http://schemas.openxmlformats.org/drawingml/2006/main" cx="7524750" cy="4572000"/>
        </p:xfrm>
        <a:graphic xmlns:a="http://schemas.openxmlformats.org/drawingml/2006/main">
          <a:graphicData uri="http://schemas.openxmlformats.org/drawingml/2006/chart">
            <c:chart xmlns:r="http://schemas.openxmlformats.org/officeDocument/2006/relationships" xmlns:c="http://schemas.openxmlformats.org/drawingml/2006/chart" r:id="R07a620435beb4aea"/>
          </a:graphicData>
        </a:graphic>
      </p:graphicFrame>
      <p:sp>
        <p:nvSpPr>
          <p:cNvPr id="3" name="">
            <a:extLst xmlns:a="http://schemas.openxmlformats.org/drawingml/2006/main">
              <a:ext uri="{FF2B5EF4-FFF2-40B4-BE49-F238E27FC236}">
                <a16:creationId xmlns:a16="http://schemas.microsoft.com/office/drawing/2014/main" id="{BB6C4C57-6C76-4DFB-BA67-F9E61EFD8B11}"/>
              </a:ext>
            </a:extLst>
          </p:cNvPr>
          <p:cNvSpPr>
            <a:spLocks xmlns:a="http://schemas.openxmlformats.org/drawingml/2006/main" noGrp="1"/>
          </p:cNvSpPr>
          <p:nvPr/>
        </p:nvSpPr>
        <p:spPr>
          <a:xfrm xmlns:a="http://schemas.openxmlformats.org/drawingml/2006/main">
            <a:off x="8286750" y="18097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D3B"/>
                </a:solidFill>
                <a:latin typeface="Arial"/>
                <a:ea typeface="Arial"/>
                <a:cs typeface="Arial"/>
              </a:defRPr>
            </a:pPr>
            <a:r>
              <a:rPr sz="2250" b="1">
                <a:solidFill>
                  <a:srgbClr val="142D3B"/>
                </a:solidFill>
                <a:latin typeface="Arial"/>
                <a:ea typeface="Arial"/>
                <a:cs typeface="Arial"/>
              </a:rPr>
              <a:t>000008: 74 → 19</a:t>
            </a:r>
          </a:p>
        </p:txBody>
      </p:sp>
      <p:sp>
        <p:nvSpPr>
          <p:cNvPr id="4" name="">
            <a:extLst xmlns:a="http://schemas.openxmlformats.org/drawingml/2006/main">
              <a:ext uri="{FF2B5EF4-FFF2-40B4-BE49-F238E27FC236}">
                <a16:creationId xmlns:a16="http://schemas.microsoft.com/office/drawing/2014/main" id="{143FD8FE-17D9-443C-A5A6-D90B31EE2F8C}"/>
              </a:ext>
            </a:extLst>
          </p:cNvPr>
          <p:cNvSpPr>
            <a:spLocks xmlns:a="http://schemas.openxmlformats.org/drawingml/2006/main" noGrp="1"/>
          </p:cNvSpPr>
          <p:nvPr/>
        </p:nvSpPr>
        <p:spPr>
          <a:xfrm xmlns:a="http://schemas.openxmlformats.org/drawingml/2006/main">
            <a:off x="8286750" y="233362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27A9C"/>
                </a:solidFill>
                <a:latin typeface="Arial"/>
                <a:ea typeface="Arial"/>
                <a:cs typeface="Arial"/>
              </a:defRPr>
            </a:pPr>
            <a:r>
              <a:rPr sz="1950" b="0">
                <a:solidFill>
                  <a:srgbClr val="127A9C"/>
                </a:solidFill>
                <a:latin typeface="Arial"/>
                <a:ea typeface="Arial"/>
                <a:cs typeface="Arial"/>
              </a:rPr>
              <a:t>Giảm 74.3%</a:t>
            </a:r>
          </a:p>
        </p:txBody>
      </p:sp>
      <p:sp>
        <p:nvSpPr>
          <p:cNvPr id="5" name="">
            <a:extLst xmlns:a="http://schemas.openxmlformats.org/drawingml/2006/main">
              <a:ext uri="{FF2B5EF4-FFF2-40B4-BE49-F238E27FC236}">
                <a16:creationId xmlns:a16="http://schemas.microsoft.com/office/drawing/2014/main" id="{CB6221E0-A7D3-40F4-BC88-5C5AEC316961}"/>
              </a:ext>
            </a:extLst>
          </p:cNvPr>
          <p:cNvSpPr>
            <a:spLocks xmlns:a="http://schemas.openxmlformats.org/drawingml/2006/main" noGrp="1"/>
          </p:cNvSpPr>
          <p:nvPr/>
        </p:nvSpPr>
        <p:spPr>
          <a:xfrm xmlns:a="http://schemas.openxmlformats.org/drawingml/2006/main">
            <a:off x="8286750" y="308610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D3B"/>
                </a:solidFill>
                <a:latin typeface="Arial"/>
                <a:ea typeface="Arial"/>
                <a:cs typeface="Arial"/>
              </a:defRPr>
            </a:pPr>
            <a:r>
              <a:rPr sz="2250" b="1">
                <a:solidFill>
                  <a:srgbClr val="142D3B"/>
                </a:solidFill>
                <a:latin typeface="Arial"/>
                <a:ea typeface="Arial"/>
                <a:cs typeface="Arial"/>
              </a:rPr>
              <a:t>000011: 57 → 34</a:t>
            </a:r>
          </a:p>
        </p:txBody>
      </p:sp>
      <p:sp>
        <p:nvSpPr>
          <p:cNvPr id="6" name="">
            <a:extLst xmlns:a="http://schemas.openxmlformats.org/drawingml/2006/main">
              <a:ext uri="{FF2B5EF4-FFF2-40B4-BE49-F238E27FC236}">
                <a16:creationId xmlns:a16="http://schemas.microsoft.com/office/drawing/2014/main" id="{CA2B4310-826F-41B1-B6D5-4E45705187A1}"/>
              </a:ext>
            </a:extLst>
          </p:cNvPr>
          <p:cNvSpPr>
            <a:spLocks xmlns:a="http://schemas.openxmlformats.org/drawingml/2006/main" noGrp="1"/>
          </p:cNvSpPr>
          <p:nvPr/>
        </p:nvSpPr>
        <p:spPr>
          <a:xfrm xmlns:a="http://schemas.openxmlformats.org/drawingml/2006/main">
            <a:off x="8286750" y="36099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27A9C"/>
                </a:solidFill>
                <a:latin typeface="Arial"/>
                <a:ea typeface="Arial"/>
                <a:cs typeface="Arial"/>
              </a:defRPr>
            </a:pPr>
            <a:r>
              <a:rPr sz="1950" b="0">
                <a:solidFill>
                  <a:srgbClr val="127A9C"/>
                </a:solidFill>
                <a:latin typeface="Arial"/>
                <a:ea typeface="Arial"/>
                <a:cs typeface="Arial"/>
              </a:rPr>
              <a:t>Giảm 40.4%</a:t>
            </a:r>
          </a:p>
        </p:txBody>
      </p:sp>
      <p:sp>
        <p:nvSpPr>
          <p:cNvPr id="7" name="">
            <a:extLst xmlns:a="http://schemas.openxmlformats.org/drawingml/2006/main">
              <a:ext uri="{FF2B5EF4-FFF2-40B4-BE49-F238E27FC236}">
                <a16:creationId xmlns:a16="http://schemas.microsoft.com/office/drawing/2014/main" id="{54A84A20-0A0E-4777-8CAF-AE0A535EEBB1}"/>
              </a:ext>
            </a:extLst>
          </p:cNvPr>
          <p:cNvSpPr>
            <a:spLocks xmlns:a="http://schemas.openxmlformats.org/drawingml/2006/main" noGrp="1"/>
          </p:cNvSpPr>
          <p:nvPr/>
        </p:nvSpPr>
        <p:spPr>
          <a:xfrm xmlns:a="http://schemas.openxmlformats.org/drawingml/2006/main">
            <a:off x="8286750" y="43624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D3B"/>
                </a:solidFill>
                <a:latin typeface="Arial"/>
                <a:ea typeface="Arial"/>
                <a:cs typeface="Arial"/>
              </a:defRPr>
            </a:pPr>
            <a:r>
              <a:rPr sz="2250" b="1">
                <a:solidFill>
                  <a:srgbClr val="142D3B"/>
                </a:solidFill>
                <a:latin typeface="Arial"/>
                <a:ea typeface="Arial"/>
                <a:cs typeface="Arial"/>
              </a:rPr>
              <a:t>000049: 50 → 39</a:t>
            </a:r>
          </a:p>
        </p:txBody>
      </p:sp>
      <p:sp>
        <p:nvSpPr>
          <p:cNvPr id="8" name="">
            <a:extLst xmlns:a="http://schemas.openxmlformats.org/drawingml/2006/main">
              <a:ext uri="{FF2B5EF4-FFF2-40B4-BE49-F238E27FC236}">
                <a16:creationId xmlns:a16="http://schemas.microsoft.com/office/drawing/2014/main" id="{9D9BCBB6-EF62-4046-830B-4F2728477B34}"/>
              </a:ext>
            </a:extLst>
          </p:cNvPr>
          <p:cNvSpPr>
            <a:spLocks xmlns:a="http://schemas.openxmlformats.org/drawingml/2006/main" noGrp="1"/>
          </p:cNvSpPr>
          <p:nvPr/>
        </p:nvSpPr>
        <p:spPr>
          <a:xfrm xmlns:a="http://schemas.openxmlformats.org/drawingml/2006/main">
            <a:off x="8286750" y="488632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27A9C"/>
                </a:solidFill>
                <a:latin typeface="Arial"/>
                <a:ea typeface="Arial"/>
                <a:cs typeface="Arial"/>
              </a:defRPr>
            </a:pPr>
            <a:r>
              <a:rPr sz="1950" b="0">
                <a:solidFill>
                  <a:srgbClr val="127A9C"/>
                </a:solidFill>
                <a:latin typeface="Arial"/>
                <a:ea typeface="Arial"/>
                <a:cs typeface="Arial"/>
              </a:rPr>
              <a:t>Giảm 22.0%</a:t>
            </a:r>
          </a:p>
        </p:txBody>
      </p:sp>
      <p:sp>
        <p:nvSpPr>
          <p:cNvPr id="9" name="">
            <a:extLst xmlns:a="http://schemas.openxmlformats.org/drawingml/2006/main">
              <a:ext uri="{FF2B5EF4-FFF2-40B4-BE49-F238E27FC236}">
                <a16:creationId xmlns:a16="http://schemas.microsoft.com/office/drawing/2014/main" id="{1590D27C-66FD-4D1E-B984-255F90FF05B2}"/>
              </a:ext>
            </a:extLst>
          </p:cNvPr>
          <p:cNvSpPr>
            <a:spLocks xmlns:a="http://schemas.openxmlformats.org/drawingml/2006/main" noGrp="1"/>
          </p:cNvSpPr>
          <p:nvPr/>
        </p:nvSpPr>
        <p:spPr>
          <a:xfrm xmlns:a="http://schemas.openxmlformats.org/drawingml/2006/main">
            <a:off x="476250" y="6248400"/>
            <a:ext cx="1123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874"/>
                </a:solidFill>
                <a:latin typeface="Arial"/>
                <a:ea typeface="Arial"/>
                <a:cs typeface="Arial"/>
              </a:defRPr>
            </a:pPr>
            <a:r>
              <a:rPr sz="1800" b="0">
                <a:solidFill>
                  <a:srgbClr val="526874"/>
                </a:solidFill>
                <a:latin typeface="Arial"/>
                <a:ea typeface="Arial"/>
                <a:cs typeface="Arial"/>
              </a:rPr>
              <a:t>Cố định RANSAC 0.1 m · min_points 10 · voxel 0.15 m</a:t>
            </a:r>
          </a:p>
        </p:txBody>
      </p:sp>
    </p:spTree>
    <p:extLst>
      <p:ext uri="{BB962C8B-B14F-4D97-AF65-F5344CB8AC3E}">
        <p14:creationId xmlns:p14="http://schemas.microsoft.com/office/powerpoint/2010/main" val="153906916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DAA3BEF-345C-47F8-A03C-EDFDE4945BCE}"/>
              </a:ext>
            </a:extLst>
          </p:cNvPr>
          <p:cNvSpPr>
            <a:spLocks xmlns:a="http://schemas.openxmlformats.org/drawingml/2006/main" noGrp="1"/>
          </p:cNvSpPr>
          <p:nvPr/>
        </p:nvSpPr>
        <p:spPr>
          <a:xfrm xmlns:a="http://schemas.openxmlformats.org/drawingml/2006/main">
            <a:off x="457200" y="304800"/>
            <a:ext cx="11277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D3B"/>
                </a:solidFill>
                <a:latin typeface="Arial"/>
                <a:ea typeface="Arial"/>
                <a:cs typeface="Arial"/>
              </a:defRPr>
            </a:pPr>
            <a:r>
              <a:rPr sz="2850" b="1">
                <a:solidFill>
                  <a:srgbClr val="142D3B"/>
                </a:solidFill>
                <a:latin typeface="Arial"/>
                <a:ea typeface="Arial"/>
                <a:cs typeface="Arial"/>
              </a:rPr>
              <a:t>Ngưỡng mặt đất thay đổi điểm giữ lại và số cụm</a:t>
            </a:r>
          </a:p>
        </p:txBody>
      </p:sp>
      <p:graphicFrame>
        <p:nvGraphicFramePr>
          <p:cNvPr id="6" name=""/>
          <p:cNvGraphicFramePr/>
          <p:nvPr/>
        </p:nvGraphicFramePr>
        <p:xfrm>
          <a:off xmlns:a="http://schemas.openxmlformats.org/drawingml/2006/main" x="552450" y="1390650"/>
          <a:ext xmlns:a="http://schemas.openxmlformats.org/drawingml/2006/main" cx="11087100" cy="3981450"/>
        </p:xfrm>
        <a:graphic xmlns:a="http://schemas.openxmlformats.org/drawingml/2006/main">
          <a:graphicData uri="http://schemas.openxmlformats.org/drawingml/2006/table">
            <a:tbl>
              <a:tblPr/>
              <a:tblGrid>
                <a:gridCol w="1847850"/>
                <a:gridCol w="1714500"/>
                <a:gridCol w="2000250"/>
                <a:gridCol w="1714500"/>
                <a:gridCol w="1905000"/>
                <a:gridCol w="1905000"/>
              </a:tblGrid>
              <a:tr h="398145">
                <a:tc>
                  <a:txBody>
                    <a:bodyPr/>
                    <a:lstStyle/>
                    <a:p>
                      <a:r>
                        <a:rPr sz="1725" b="1">
                          <a:solidFill>
                            <a:srgbClr val="FFFFFF"/>
                          </a:solidFill>
                          <a:latin typeface="Arial"/>
                          <a:ea typeface="Arial"/>
                          <a:cs typeface="Arial"/>
                        </a:rPr>
                        <a:t>Frame</a:t>
                      </a:r>
                    </a:p>
                  </a:txBody>
                  <a:tcPr marL="91440" marR="91440" marT="45720" marB="45720">
                    <a:solidFill>
                      <a:srgbClr val="142D3B"/>
                    </a:solidFill>
                  </a:tcPr>
                </a:tc>
                <a:tc>
                  <a:txBody>
                    <a:bodyPr/>
                    <a:lstStyle/>
                    <a:p>
                      <a:r>
                        <a:rPr sz="1725" b="1">
                          <a:solidFill>
                            <a:srgbClr val="FFFFFF"/>
                          </a:solidFill>
                          <a:latin typeface="Arial"/>
                          <a:ea typeface="Arial"/>
                          <a:cs typeface="Arial"/>
                        </a:rPr>
                        <a:t>Đất (m)</a:t>
                      </a:r>
                    </a:p>
                  </a:txBody>
                  <a:tcPr marL="91440" marR="91440" marT="45720" marB="45720">
                    <a:solidFill>
                      <a:srgbClr val="142D3B"/>
                    </a:solidFill>
                  </a:tcPr>
                </a:tc>
                <a:tc>
                  <a:txBody>
                    <a:bodyPr/>
                    <a:lstStyle/>
                    <a:p>
                      <a:r>
                        <a:rPr sz="1725" b="1">
                          <a:solidFill>
                            <a:srgbClr val="FFFFFF"/>
                          </a:solidFill>
                          <a:latin typeface="Arial"/>
                          <a:ea typeface="Arial"/>
                          <a:cs typeface="Arial"/>
                        </a:rPr>
                        <a:t>Điểm giữ</a:t>
                      </a:r>
                    </a:p>
                  </a:txBody>
                  <a:tcPr marL="91440" marR="91440" marT="45720" marB="45720">
                    <a:solidFill>
                      <a:srgbClr val="142D3B"/>
                    </a:solidFill>
                  </a:tcPr>
                </a:tc>
                <a:tc>
                  <a:txBody>
                    <a:bodyPr/>
                    <a:lstStyle/>
                    <a:p>
                      <a:r>
                        <a:rPr sz="1725" b="1">
                          <a:solidFill>
                            <a:srgbClr val="FFFFFF"/>
                          </a:solidFill>
                          <a:latin typeface="Arial"/>
                          <a:ea typeface="Arial"/>
                          <a:cs typeface="Arial"/>
                        </a:rPr>
                        <a:t>Số cụm</a:t>
                      </a:r>
                    </a:p>
                  </a:txBody>
                  <a:tcPr marL="91440" marR="91440" marT="45720" marB="45720">
                    <a:solidFill>
                      <a:srgbClr val="142D3B"/>
                    </a:solidFill>
                  </a:tcPr>
                </a:tc>
                <a:tc>
                  <a:txBody>
                    <a:bodyPr/>
                    <a:lstStyle/>
                    <a:p>
                      <a:r>
                        <a:rPr sz="1725" b="1">
                          <a:solidFill>
                            <a:srgbClr val="FFFFFF"/>
                          </a:solidFill>
                          <a:latin typeface="Arial"/>
                          <a:ea typeface="Arial"/>
                          <a:cs typeface="Arial"/>
                        </a:rPr>
                        <a:t>Gần (m)</a:t>
                      </a:r>
                    </a:p>
                  </a:txBody>
                  <a:tcPr marL="91440" marR="91440" marT="45720" marB="45720">
                    <a:solidFill>
                      <a:srgbClr val="142D3B"/>
                    </a:solidFill>
                  </a:tcPr>
                </a:tc>
                <a:tc>
                  <a:txBody>
                    <a:bodyPr/>
                    <a:lstStyle/>
                    <a:p>
                      <a:r>
                        <a:rPr sz="1725" b="1">
                          <a:solidFill>
                            <a:srgbClr val="FFFFFF"/>
                          </a:solidFill>
                          <a:latin typeface="Arial"/>
                          <a:ea typeface="Arial"/>
                          <a:cs typeface="Arial"/>
                        </a:rPr>
                        <a:t>p50 (ms)</a:t>
                      </a:r>
                    </a:p>
                  </a:txBody>
                  <a:tcPr marL="91440" marR="91440" marT="45720" marB="45720">
                    <a:solidFill>
                      <a:srgbClr val="142D3B"/>
                    </a:solidFill>
                  </a:tcPr>
                </a:tc>
              </a:tr>
              <a:tr h="398145">
                <a:tc>
                  <a:txBody>
                    <a:bodyPr/>
                    <a:lstStyle/>
                    <a:p>
                      <a:r>
                        <a:rPr sz="1725" b="0">
                          <a:solidFill>
                            <a:srgbClr val="142D3B"/>
                          </a:solidFill>
                          <a:latin typeface="Arial"/>
                          <a:ea typeface="Arial"/>
                          <a:cs typeface="Arial"/>
                        </a:rPr>
                        <a:t>000008</a:t>
                      </a:r>
                    </a:p>
                  </a:txBody>
                  <a:tcPr marL="91440" marR="91440" marT="45720" marB="45720">
                    <a:solidFill>
                      <a:srgbClr val="FFFFFF"/>
                    </a:solidFill>
                  </a:tcPr>
                </a:tc>
                <a:tc>
                  <a:txBody>
                    <a:bodyPr/>
                    <a:lstStyle/>
                    <a:p>
                      <a:r>
                        <a:rPr sz="1725" b="0">
                          <a:solidFill>
                            <a:srgbClr val="142D3B"/>
                          </a:solidFill>
                          <a:latin typeface="Arial"/>
                          <a:ea typeface="Arial"/>
                          <a:cs typeface="Arial"/>
                        </a:rPr>
                        <a:t>0.05</a:t>
                      </a:r>
                    </a:p>
                  </a:txBody>
                  <a:tcPr marL="91440" marR="91440" marT="45720" marB="45720">
                    <a:solidFill>
                      <a:srgbClr val="FFFFFF"/>
                    </a:solidFill>
                  </a:tcPr>
                </a:tc>
                <a:tc>
                  <a:txBody>
                    <a:bodyPr/>
                    <a:lstStyle/>
                    <a:p>
                      <a:r>
                        <a:rPr sz="1725" b="0">
                          <a:solidFill>
                            <a:srgbClr val="142D3B"/>
                          </a:solidFill>
                          <a:latin typeface="Arial"/>
                          <a:ea typeface="Arial"/>
                          <a:cs typeface="Arial"/>
                        </a:rPr>
                        <a:t>11563</a:t>
                      </a:r>
                    </a:p>
                  </a:txBody>
                  <a:tcPr marL="91440" marR="91440" marT="45720" marB="45720">
                    <a:solidFill>
                      <a:srgbClr val="FFFFFF"/>
                    </a:solidFill>
                  </a:tcPr>
                </a:tc>
                <a:tc>
                  <a:txBody>
                    <a:bodyPr/>
                    <a:lstStyle/>
                    <a:p>
                      <a:r>
                        <a:rPr sz="1725" b="0">
                          <a:solidFill>
                            <a:srgbClr val="142D3B"/>
                          </a:solidFill>
                          <a:latin typeface="Arial"/>
                          <a:ea typeface="Arial"/>
                          <a:cs typeface="Arial"/>
                        </a:rPr>
                        <a:t>32</a:t>
                      </a:r>
                    </a:p>
                  </a:txBody>
                  <a:tcPr marL="91440" marR="91440" marT="45720" marB="45720">
                    <a:solidFill>
                      <a:srgbClr val="FFFFFF"/>
                    </a:solidFill>
                  </a:tcPr>
                </a:tc>
                <a:tc>
                  <a:txBody>
                    <a:bodyPr/>
                    <a:lstStyle/>
                    <a:p>
                      <a:r>
                        <a:rPr sz="1725" b="0">
                          <a:solidFill>
                            <a:srgbClr val="142D3B"/>
                          </a:solidFill>
                          <a:latin typeface="Arial"/>
                          <a:ea typeface="Arial"/>
                          <a:cs typeface="Arial"/>
                        </a:rPr>
                        <a:t>1.89</a:t>
                      </a:r>
                    </a:p>
                  </a:txBody>
                  <a:tcPr marL="91440" marR="91440" marT="45720" marB="45720">
                    <a:solidFill>
                      <a:srgbClr val="FFFFFF"/>
                    </a:solidFill>
                  </a:tcPr>
                </a:tc>
                <a:tc>
                  <a:txBody>
                    <a:bodyPr/>
                    <a:lstStyle/>
                    <a:p>
                      <a:r>
                        <a:rPr sz="1725" b="0">
                          <a:solidFill>
                            <a:srgbClr val="142D3B"/>
                          </a:solidFill>
                          <a:latin typeface="Arial"/>
                          <a:ea typeface="Arial"/>
                          <a:cs typeface="Arial"/>
                        </a:rPr>
                        <a:t>168.9</a:t>
                      </a:r>
                    </a:p>
                  </a:txBody>
                  <a:tcPr marL="91440" marR="91440" marT="45720" marB="45720">
                    <a:solidFill>
                      <a:srgbClr val="FFFFFF"/>
                    </a:solidFill>
                  </a:tcPr>
                </a:tc>
              </a:tr>
              <a:tr h="398145">
                <a:tc>
                  <a:txBody>
                    <a:bodyPr/>
                    <a:lstStyle/>
                    <a:p>
                      <a:r>
                        <a:rPr sz="1725" b="0">
                          <a:solidFill>
                            <a:srgbClr val="142D3B"/>
                          </a:solidFill>
                          <a:latin typeface="Arial"/>
                          <a:ea typeface="Arial"/>
                          <a:cs typeface="Arial"/>
                        </a:rPr>
                        <a:t>000008</a:t>
                      </a:r>
                    </a:p>
                  </a:txBody>
                  <a:tcPr marL="91440" marR="91440" marT="45720" marB="45720">
                    <a:solidFill>
                      <a:srgbClr val="EFF5F7"/>
                    </a:solidFill>
                  </a:tcPr>
                </a:tc>
                <a:tc>
                  <a:txBody>
                    <a:bodyPr/>
                    <a:lstStyle/>
                    <a:p>
                      <a:r>
                        <a:rPr sz="1725" b="0">
                          <a:solidFill>
                            <a:srgbClr val="142D3B"/>
                          </a:solidFill>
                          <a:latin typeface="Arial"/>
                          <a:ea typeface="Arial"/>
                          <a:cs typeface="Arial"/>
                        </a:rPr>
                        <a:t>0.10</a:t>
                      </a:r>
                    </a:p>
                  </a:txBody>
                  <a:tcPr marL="91440" marR="91440" marT="45720" marB="45720">
                    <a:solidFill>
                      <a:srgbClr val="EFF5F7"/>
                    </a:solidFill>
                  </a:tcPr>
                </a:tc>
                <a:tc>
                  <a:txBody>
                    <a:bodyPr/>
                    <a:lstStyle/>
                    <a:p>
                      <a:r>
                        <a:rPr sz="1725" b="0">
                          <a:solidFill>
                            <a:srgbClr val="142D3B"/>
                          </a:solidFill>
                          <a:latin typeface="Arial"/>
                          <a:ea typeface="Arial"/>
                          <a:cs typeface="Arial"/>
                        </a:rPr>
                        <a:t>11016</a:t>
                      </a:r>
                    </a:p>
                  </a:txBody>
                  <a:tcPr marL="91440" marR="91440" marT="45720" marB="45720">
                    <a:solidFill>
                      <a:srgbClr val="EFF5F7"/>
                    </a:solidFill>
                  </a:tcPr>
                </a:tc>
                <a:tc>
                  <a:txBody>
                    <a:bodyPr/>
                    <a:lstStyle/>
                    <a:p>
                      <a:r>
                        <a:rPr sz="1725" b="0">
                          <a:solidFill>
                            <a:srgbClr val="142D3B"/>
                          </a:solidFill>
                          <a:latin typeface="Arial"/>
                          <a:ea typeface="Arial"/>
                          <a:cs typeface="Arial"/>
                        </a:rPr>
                        <a:t>34</a:t>
                      </a:r>
                    </a:p>
                  </a:txBody>
                  <a:tcPr marL="91440" marR="91440" marT="45720" marB="45720">
                    <a:solidFill>
                      <a:srgbClr val="EFF5F7"/>
                    </a:solidFill>
                  </a:tcPr>
                </a:tc>
                <a:tc>
                  <a:txBody>
                    <a:bodyPr/>
                    <a:lstStyle/>
                    <a:p>
                      <a:r>
                        <a:rPr sz="1725" b="0">
                          <a:solidFill>
                            <a:srgbClr val="142D3B"/>
                          </a:solidFill>
                          <a:latin typeface="Arial"/>
                          <a:ea typeface="Arial"/>
                          <a:cs typeface="Arial"/>
                        </a:rPr>
                        <a:t>2.75</a:t>
                      </a:r>
                    </a:p>
                  </a:txBody>
                  <a:tcPr marL="91440" marR="91440" marT="45720" marB="45720">
                    <a:solidFill>
                      <a:srgbClr val="EFF5F7"/>
                    </a:solidFill>
                  </a:tcPr>
                </a:tc>
                <a:tc>
                  <a:txBody>
                    <a:bodyPr/>
                    <a:lstStyle/>
                    <a:p>
                      <a:r>
                        <a:rPr sz="1725" b="0">
                          <a:solidFill>
                            <a:srgbClr val="142D3B"/>
                          </a:solidFill>
                          <a:latin typeface="Arial"/>
                          <a:ea typeface="Arial"/>
                          <a:cs typeface="Arial"/>
                        </a:rPr>
                        <a:t>154.1</a:t>
                      </a:r>
                    </a:p>
                  </a:txBody>
                  <a:tcPr marL="91440" marR="91440" marT="45720" marB="45720">
                    <a:solidFill>
                      <a:srgbClr val="EFF5F7"/>
                    </a:solidFill>
                  </a:tcPr>
                </a:tc>
              </a:tr>
              <a:tr h="398145">
                <a:tc>
                  <a:txBody>
                    <a:bodyPr/>
                    <a:lstStyle/>
                    <a:p>
                      <a:r>
                        <a:rPr sz="1725" b="0">
                          <a:solidFill>
                            <a:srgbClr val="142D3B"/>
                          </a:solidFill>
                          <a:latin typeface="Arial"/>
                          <a:ea typeface="Arial"/>
                          <a:cs typeface="Arial"/>
                        </a:rPr>
                        <a:t>000008</a:t>
                      </a:r>
                    </a:p>
                  </a:txBody>
                  <a:tcPr marL="91440" marR="91440" marT="45720" marB="45720">
                    <a:solidFill>
                      <a:srgbClr val="FFFFFF"/>
                    </a:solidFill>
                  </a:tcPr>
                </a:tc>
                <a:tc>
                  <a:txBody>
                    <a:bodyPr/>
                    <a:lstStyle/>
                    <a:p>
                      <a:r>
                        <a:rPr sz="1725" b="0">
                          <a:solidFill>
                            <a:srgbClr val="142D3B"/>
                          </a:solidFill>
                          <a:latin typeface="Arial"/>
                          <a:ea typeface="Arial"/>
                          <a:cs typeface="Arial"/>
                        </a:rPr>
                        <a:t>0.30</a:t>
                      </a:r>
                    </a:p>
                  </a:txBody>
                  <a:tcPr marL="91440" marR="91440" marT="45720" marB="45720">
                    <a:solidFill>
                      <a:srgbClr val="FFFFFF"/>
                    </a:solidFill>
                  </a:tcPr>
                </a:tc>
                <a:tc>
                  <a:txBody>
                    <a:bodyPr/>
                    <a:lstStyle/>
                    <a:p>
                      <a:r>
                        <a:rPr sz="1725" b="0">
                          <a:solidFill>
                            <a:srgbClr val="142D3B"/>
                          </a:solidFill>
                          <a:latin typeface="Arial"/>
                          <a:ea typeface="Arial"/>
                          <a:cs typeface="Arial"/>
                        </a:rPr>
                        <a:t>9176</a:t>
                      </a:r>
                    </a:p>
                  </a:txBody>
                  <a:tcPr marL="91440" marR="91440" marT="45720" marB="45720">
                    <a:solidFill>
                      <a:srgbClr val="FFFFFF"/>
                    </a:solidFill>
                  </a:tcPr>
                </a:tc>
                <a:tc>
                  <a:txBody>
                    <a:bodyPr/>
                    <a:lstStyle/>
                    <a:p>
                      <a:r>
                        <a:rPr sz="1725" b="0">
                          <a:solidFill>
                            <a:srgbClr val="142D3B"/>
                          </a:solidFill>
                          <a:latin typeface="Arial"/>
                          <a:ea typeface="Arial"/>
                          <a:cs typeface="Arial"/>
                        </a:rPr>
                        <a:t>39</a:t>
                      </a:r>
                    </a:p>
                  </a:txBody>
                  <a:tcPr marL="91440" marR="91440" marT="45720" marB="45720">
                    <a:solidFill>
                      <a:srgbClr val="FFFFFF"/>
                    </a:solidFill>
                  </a:tcPr>
                </a:tc>
                <a:tc>
                  <a:txBody>
                    <a:bodyPr/>
                    <a:lstStyle/>
                    <a:p>
                      <a:r>
                        <a:rPr sz="1725" b="0">
                          <a:solidFill>
                            <a:srgbClr val="142D3B"/>
                          </a:solidFill>
                          <a:latin typeface="Arial"/>
                          <a:ea typeface="Arial"/>
                          <a:cs typeface="Arial"/>
                        </a:rPr>
                        <a:t>2.75</a:t>
                      </a:r>
                    </a:p>
                  </a:txBody>
                  <a:tcPr marL="91440" marR="91440" marT="45720" marB="45720">
                    <a:solidFill>
                      <a:srgbClr val="FFFFFF"/>
                    </a:solidFill>
                  </a:tcPr>
                </a:tc>
                <a:tc>
                  <a:txBody>
                    <a:bodyPr/>
                    <a:lstStyle/>
                    <a:p>
                      <a:r>
                        <a:rPr sz="1725" b="0">
                          <a:solidFill>
                            <a:srgbClr val="142D3B"/>
                          </a:solidFill>
                          <a:latin typeface="Arial"/>
                          <a:ea typeface="Arial"/>
                          <a:cs typeface="Arial"/>
                        </a:rPr>
                        <a:t>151.5</a:t>
                      </a:r>
                    </a:p>
                  </a:txBody>
                  <a:tcPr marL="91440" marR="91440" marT="45720" marB="45720">
                    <a:solidFill>
                      <a:srgbClr val="FFFFFF"/>
                    </a:solidFill>
                  </a:tcPr>
                </a:tc>
              </a:tr>
              <a:tr h="398145">
                <a:tc>
                  <a:txBody>
                    <a:bodyPr/>
                    <a:lstStyle/>
                    <a:p>
                      <a:r>
                        <a:rPr sz="1725" b="0">
                          <a:solidFill>
                            <a:srgbClr val="142D3B"/>
                          </a:solidFill>
                          <a:latin typeface="Arial"/>
                          <a:ea typeface="Arial"/>
                          <a:cs typeface="Arial"/>
                        </a:rPr>
                        <a:t>000011</a:t>
                      </a:r>
                    </a:p>
                  </a:txBody>
                  <a:tcPr marL="91440" marR="91440" marT="45720" marB="45720">
                    <a:solidFill>
                      <a:srgbClr val="EFF5F7"/>
                    </a:solidFill>
                  </a:tcPr>
                </a:tc>
                <a:tc>
                  <a:txBody>
                    <a:bodyPr/>
                    <a:lstStyle/>
                    <a:p>
                      <a:r>
                        <a:rPr sz="1725" b="0">
                          <a:solidFill>
                            <a:srgbClr val="142D3B"/>
                          </a:solidFill>
                          <a:latin typeface="Arial"/>
                          <a:ea typeface="Arial"/>
                          <a:cs typeface="Arial"/>
                        </a:rPr>
                        <a:t>0.05</a:t>
                      </a:r>
                    </a:p>
                  </a:txBody>
                  <a:tcPr marL="91440" marR="91440" marT="45720" marB="45720">
                    <a:solidFill>
                      <a:srgbClr val="EFF5F7"/>
                    </a:solidFill>
                  </a:tcPr>
                </a:tc>
                <a:tc>
                  <a:txBody>
                    <a:bodyPr/>
                    <a:lstStyle/>
                    <a:p>
                      <a:r>
                        <a:rPr sz="1725" b="0">
                          <a:solidFill>
                            <a:srgbClr val="142D3B"/>
                          </a:solidFill>
                          <a:latin typeface="Arial"/>
                          <a:ea typeface="Arial"/>
                          <a:cs typeface="Arial"/>
                        </a:rPr>
                        <a:t>7523</a:t>
                      </a:r>
                    </a:p>
                  </a:txBody>
                  <a:tcPr marL="91440" marR="91440" marT="45720" marB="45720">
                    <a:solidFill>
                      <a:srgbClr val="EFF5F7"/>
                    </a:solidFill>
                  </a:tcPr>
                </a:tc>
                <a:tc>
                  <a:txBody>
                    <a:bodyPr/>
                    <a:lstStyle/>
                    <a:p>
                      <a:r>
                        <a:rPr sz="1725" b="0">
                          <a:solidFill>
                            <a:srgbClr val="142D3B"/>
                          </a:solidFill>
                          <a:latin typeface="Arial"/>
                          <a:ea typeface="Arial"/>
                          <a:cs typeface="Arial"/>
                        </a:rPr>
                        <a:t>41</a:t>
                      </a:r>
                    </a:p>
                  </a:txBody>
                  <a:tcPr marL="91440" marR="91440" marT="45720" marB="45720">
                    <a:solidFill>
                      <a:srgbClr val="EFF5F7"/>
                    </a:solidFill>
                  </a:tcPr>
                </a:tc>
                <a:tc>
                  <a:txBody>
                    <a:bodyPr/>
                    <a:lstStyle/>
                    <a:p>
                      <a:r>
                        <a:rPr sz="1725" b="0">
                          <a:solidFill>
                            <a:srgbClr val="142D3B"/>
                          </a:solidFill>
                          <a:latin typeface="Arial"/>
                          <a:ea typeface="Arial"/>
                          <a:cs typeface="Arial"/>
                        </a:rPr>
                        <a:t>2.32</a:t>
                      </a:r>
                    </a:p>
                  </a:txBody>
                  <a:tcPr marL="91440" marR="91440" marT="45720" marB="45720">
                    <a:solidFill>
                      <a:srgbClr val="EFF5F7"/>
                    </a:solidFill>
                  </a:tcPr>
                </a:tc>
                <a:tc>
                  <a:txBody>
                    <a:bodyPr/>
                    <a:lstStyle/>
                    <a:p>
                      <a:r>
                        <a:rPr sz="1725" b="0">
                          <a:solidFill>
                            <a:srgbClr val="142D3B"/>
                          </a:solidFill>
                          <a:latin typeface="Arial"/>
                          <a:ea typeface="Arial"/>
                          <a:cs typeface="Arial"/>
                        </a:rPr>
                        <a:t>99.2</a:t>
                      </a:r>
                    </a:p>
                  </a:txBody>
                  <a:tcPr marL="91440" marR="91440" marT="45720" marB="45720">
                    <a:solidFill>
                      <a:srgbClr val="EFF5F7"/>
                    </a:solidFill>
                  </a:tcPr>
                </a:tc>
              </a:tr>
              <a:tr h="398145">
                <a:tc>
                  <a:txBody>
                    <a:bodyPr/>
                    <a:lstStyle/>
                    <a:p>
                      <a:r>
                        <a:rPr sz="1725" b="0">
                          <a:solidFill>
                            <a:srgbClr val="142D3B"/>
                          </a:solidFill>
                          <a:latin typeface="Arial"/>
                          <a:ea typeface="Arial"/>
                          <a:cs typeface="Arial"/>
                        </a:rPr>
                        <a:t>000011</a:t>
                      </a:r>
                    </a:p>
                  </a:txBody>
                  <a:tcPr marL="91440" marR="91440" marT="45720" marB="45720">
                    <a:solidFill>
                      <a:srgbClr val="FFFFFF"/>
                    </a:solidFill>
                  </a:tcPr>
                </a:tc>
                <a:tc>
                  <a:txBody>
                    <a:bodyPr/>
                    <a:lstStyle/>
                    <a:p>
                      <a:r>
                        <a:rPr sz="1725" b="0">
                          <a:solidFill>
                            <a:srgbClr val="142D3B"/>
                          </a:solidFill>
                          <a:latin typeface="Arial"/>
                          <a:ea typeface="Arial"/>
                          <a:cs typeface="Arial"/>
                        </a:rPr>
                        <a:t>0.10</a:t>
                      </a:r>
                    </a:p>
                  </a:txBody>
                  <a:tcPr marL="91440" marR="91440" marT="45720" marB="45720">
                    <a:solidFill>
                      <a:srgbClr val="FFFFFF"/>
                    </a:solidFill>
                  </a:tcPr>
                </a:tc>
                <a:tc>
                  <a:txBody>
                    <a:bodyPr/>
                    <a:lstStyle/>
                    <a:p>
                      <a:r>
                        <a:rPr sz="1725" b="0">
                          <a:solidFill>
                            <a:srgbClr val="142D3B"/>
                          </a:solidFill>
                          <a:latin typeface="Arial"/>
                          <a:ea typeface="Arial"/>
                          <a:cs typeface="Arial"/>
                        </a:rPr>
                        <a:t>6620</a:t>
                      </a:r>
                    </a:p>
                  </a:txBody>
                  <a:tcPr marL="91440" marR="91440" marT="45720" marB="45720">
                    <a:solidFill>
                      <a:srgbClr val="FFFFFF"/>
                    </a:solidFill>
                  </a:tcPr>
                </a:tc>
                <a:tc>
                  <a:txBody>
                    <a:bodyPr/>
                    <a:lstStyle/>
                    <a:p>
                      <a:r>
                        <a:rPr sz="1725" b="0">
                          <a:solidFill>
                            <a:srgbClr val="142D3B"/>
                          </a:solidFill>
                          <a:latin typeface="Arial"/>
                          <a:ea typeface="Arial"/>
                          <a:cs typeface="Arial"/>
                        </a:rPr>
                        <a:t>39</a:t>
                      </a:r>
                    </a:p>
                  </a:txBody>
                  <a:tcPr marL="91440" marR="91440" marT="45720" marB="45720">
                    <a:solidFill>
                      <a:srgbClr val="FFFFFF"/>
                    </a:solidFill>
                  </a:tcPr>
                </a:tc>
                <a:tc>
                  <a:txBody>
                    <a:bodyPr/>
                    <a:lstStyle/>
                    <a:p>
                      <a:r>
                        <a:rPr sz="1725" b="0">
                          <a:solidFill>
                            <a:srgbClr val="142D3B"/>
                          </a:solidFill>
                          <a:latin typeface="Arial"/>
                          <a:ea typeface="Arial"/>
                          <a:cs typeface="Arial"/>
                        </a:rPr>
                        <a:t>2.32</a:t>
                      </a:r>
                    </a:p>
                  </a:txBody>
                  <a:tcPr marL="91440" marR="91440" marT="45720" marB="45720">
                    <a:solidFill>
                      <a:srgbClr val="FFFFFF"/>
                    </a:solidFill>
                  </a:tcPr>
                </a:tc>
                <a:tc>
                  <a:txBody>
                    <a:bodyPr/>
                    <a:lstStyle/>
                    <a:p>
                      <a:r>
                        <a:rPr sz="1725" b="0">
                          <a:solidFill>
                            <a:srgbClr val="142D3B"/>
                          </a:solidFill>
                          <a:latin typeface="Arial"/>
                          <a:ea typeface="Arial"/>
                          <a:cs typeface="Arial"/>
                        </a:rPr>
                        <a:t>57.5</a:t>
                      </a:r>
                    </a:p>
                  </a:txBody>
                  <a:tcPr marL="91440" marR="91440" marT="45720" marB="45720">
                    <a:solidFill>
                      <a:srgbClr val="FFFFFF"/>
                    </a:solidFill>
                  </a:tcPr>
                </a:tc>
              </a:tr>
              <a:tr h="398145">
                <a:tc>
                  <a:txBody>
                    <a:bodyPr/>
                    <a:lstStyle/>
                    <a:p>
                      <a:r>
                        <a:rPr sz="1725" b="0">
                          <a:solidFill>
                            <a:srgbClr val="142D3B"/>
                          </a:solidFill>
                          <a:latin typeface="Arial"/>
                          <a:ea typeface="Arial"/>
                          <a:cs typeface="Arial"/>
                        </a:rPr>
                        <a:t>000011</a:t>
                      </a:r>
                    </a:p>
                  </a:txBody>
                  <a:tcPr marL="91440" marR="91440" marT="45720" marB="45720">
                    <a:solidFill>
                      <a:srgbClr val="EFF5F7"/>
                    </a:solidFill>
                  </a:tcPr>
                </a:tc>
                <a:tc>
                  <a:txBody>
                    <a:bodyPr/>
                    <a:lstStyle/>
                    <a:p>
                      <a:r>
                        <a:rPr sz="1725" b="0">
                          <a:solidFill>
                            <a:srgbClr val="142D3B"/>
                          </a:solidFill>
                          <a:latin typeface="Arial"/>
                          <a:ea typeface="Arial"/>
                          <a:cs typeface="Arial"/>
                        </a:rPr>
                        <a:t>0.30</a:t>
                      </a:r>
                    </a:p>
                  </a:txBody>
                  <a:tcPr marL="91440" marR="91440" marT="45720" marB="45720">
                    <a:solidFill>
                      <a:srgbClr val="EFF5F7"/>
                    </a:solidFill>
                  </a:tcPr>
                </a:tc>
                <a:tc>
                  <a:txBody>
                    <a:bodyPr/>
                    <a:lstStyle/>
                    <a:p>
                      <a:r>
                        <a:rPr sz="1725" b="0">
                          <a:solidFill>
                            <a:srgbClr val="142D3B"/>
                          </a:solidFill>
                          <a:latin typeface="Arial"/>
                          <a:ea typeface="Arial"/>
                          <a:cs typeface="Arial"/>
                        </a:rPr>
                        <a:t>5898</a:t>
                      </a:r>
                    </a:p>
                  </a:txBody>
                  <a:tcPr marL="91440" marR="91440" marT="45720" marB="45720">
                    <a:solidFill>
                      <a:srgbClr val="EFF5F7"/>
                    </a:solidFill>
                  </a:tcPr>
                </a:tc>
                <a:tc>
                  <a:txBody>
                    <a:bodyPr/>
                    <a:lstStyle/>
                    <a:p>
                      <a:r>
                        <a:rPr sz="1725" b="0">
                          <a:solidFill>
                            <a:srgbClr val="142D3B"/>
                          </a:solidFill>
                          <a:latin typeface="Arial"/>
                          <a:ea typeface="Arial"/>
                          <a:cs typeface="Arial"/>
                        </a:rPr>
                        <a:t>36</a:t>
                      </a:r>
                    </a:p>
                  </a:txBody>
                  <a:tcPr marL="91440" marR="91440" marT="45720" marB="45720">
                    <a:solidFill>
                      <a:srgbClr val="EFF5F7"/>
                    </a:solidFill>
                  </a:tcPr>
                </a:tc>
                <a:tc>
                  <a:txBody>
                    <a:bodyPr/>
                    <a:lstStyle/>
                    <a:p>
                      <a:r>
                        <a:rPr sz="1725" b="0">
                          <a:solidFill>
                            <a:srgbClr val="142D3B"/>
                          </a:solidFill>
                          <a:latin typeface="Arial"/>
                          <a:ea typeface="Arial"/>
                          <a:cs typeface="Arial"/>
                        </a:rPr>
                        <a:t>2.32</a:t>
                      </a:r>
                    </a:p>
                  </a:txBody>
                  <a:tcPr marL="91440" marR="91440" marT="45720" marB="45720">
                    <a:solidFill>
                      <a:srgbClr val="EFF5F7"/>
                    </a:solidFill>
                  </a:tcPr>
                </a:tc>
                <a:tc>
                  <a:txBody>
                    <a:bodyPr/>
                    <a:lstStyle/>
                    <a:p>
                      <a:r>
                        <a:rPr sz="1725" b="0">
                          <a:solidFill>
                            <a:srgbClr val="142D3B"/>
                          </a:solidFill>
                          <a:latin typeface="Arial"/>
                          <a:ea typeface="Arial"/>
                          <a:cs typeface="Arial"/>
                        </a:rPr>
                        <a:t>56.2</a:t>
                      </a:r>
                    </a:p>
                  </a:txBody>
                  <a:tcPr marL="91440" marR="91440" marT="45720" marB="45720">
                    <a:solidFill>
                      <a:srgbClr val="EFF5F7"/>
                    </a:solidFill>
                  </a:tcPr>
                </a:tc>
              </a:tr>
              <a:tr h="398145">
                <a:tc>
                  <a:txBody>
                    <a:bodyPr/>
                    <a:lstStyle/>
                    <a:p>
                      <a:r>
                        <a:rPr sz="1725" b="0">
                          <a:solidFill>
                            <a:srgbClr val="142D3B"/>
                          </a:solidFill>
                          <a:latin typeface="Arial"/>
                          <a:ea typeface="Arial"/>
                          <a:cs typeface="Arial"/>
                        </a:rPr>
                        <a:t>000049</a:t>
                      </a:r>
                    </a:p>
                  </a:txBody>
                  <a:tcPr marL="91440" marR="91440" marT="45720" marB="45720">
                    <a:solidFill>
                      <a:srgbClr val="FFFFFF"/>
                    </a:solidFill>
                  </a:tcPr>
                </a:tc>
                <a:tc>
                  <a:txBody>
                    <a:bodyPr/>
                    <a:lstStyle/>
                    <a:p>
                      <a:r>
                        <a:rPr sz="1725" b="0">
                          <a:solidFill>
                            <a:srgbClr val="142D3B"/>
                          </a:solidFill>
                          <a:latin typeface="Arial"/>
                          <a:ea typeface="Arial"/>
                          <a:cs typeface="Arial"/>
                        </a:rPr>
                        <a:t>0.05</a:t>
                      </a:r>
                    </a:p>
                  </a:txBody>
                  <a:tcPr marL="91440" marR="91440" marT="45720" marB="45720">
                    <a:solidFill>
                      <a:srgbClr val="FFFFFF"/>
                    </a:solidFill>
                  </a:tcPr>
                </a:tc>
                <a:tc>
                  <a:txBody>
                    <a:bodyPr/>
                    <a:lstStyle/>
                    <a:p>
                      <a:r>
                        <a:rPr sz="1725" b="0">
                          <a:solidFill>
                            <a:srgbClr val="142D3B"/>
                          </a:solidFill>
                          <a:latin typeface="Arial"/>
                          <a:ea typeface="Arial"/>
                          <a:cs typeface="Arial"/>
                        </a:rPr>
                        <a:t>7131</a:t>
                      </a:r>
                    </a:p>
                  </a:txBody>
                  <a:tcPr marL="91440" marR="91440" marT="45720" marB="45720">
                    <a:solidFill>
                      <a:srgbClr val="FFFFFF"/>
                    </a:solidFill>
                  </a:tcPr>
                </a:tc>
                <a:tc>
                  <a:txBody>
                    <a:bodyPr/>
                    <a:lstStyle/>
                    <a:p>
                      <a:r>
                        <a:rPr sz="1725" b="0">
                          <a:solidFill>
                            <a:srgbClr val="142D3B"/>
                          </a:solidFill>
                          <a:latin typeface="Arial"/>
                          <a:ea typeface="Arial"/>
                          <a:cs typeface="Arial"/>
                        </a:rPr>
                        <a:t>48</a:t>
                      </a:r>
                    </a:p>
                  </a:txBody>
                  <a:tcPr marL="91440" marR="91440" marT="45720" marB="45720">
                    <a:solidFill>
                      <a:srgbClr val="FFFFFF"/>
                    </a:solidFill>
                  </a:tcPr>
                </a:tc>
                <a:tc>
                  <a:txBody>
                    <a:bodyPr/>
                    <a:lstStyle/>
                    <a:p>
                      <a:r>
                        <a:rPr sz="1725" b="0">
                          <a:solidFill>
                            <a:srgbClr val="142D3B"/>
                          </a:solidFill>
                          <a:latin typeface="Arial"/>
                          <a:ea typeface="Arial"/>
                          <a:cs typeface="Arial"/>
                        </a:rPr>
                        <a:t>2.44</a:t>
                      </a:r>
                    </a:p>
                  </a:txBody>
                  <a:tcPr marL="91440" marR="91440" marT="45720" marB="45720">
                    <a:solidFill>
                      <a:srgbClr val="FFFFFF"/>
                    </a:solidFill>
                  </a:tcPr>
                </a:tc>
                <a:tc>
                  <a:txBody>
                    <a:bodyPr/>
                    <a:lstStyle/>
                    <a:p>
                      <a:r>
                        <a:rPr sz="1725" b="0">
                          <a:solidFill>
                            <a:srgbClr val="142D3B"/>
                          </a:solidFill>
                          <a:latin typeface="Arial"/>
                          <a:ea typeface="Arial"/>
                          <a:cs typeface="Arial"/>
                        </a:rPr>
                        <a:t>77.8</a:t>
                      </a:r>
                    </a:p>
                  </a:txBody>
                  <a:tcPr marL="91440" marR="91440" marT="45720" marB="45720">
                    <a:solidFill>
                      <a:srgbClr val="FFFFFF"/>
                    </a:solidFill>
                  </a:tcPr>
                </a:tc>
              </a:tr>
              <a:tr h="398145">
                <a:tc>
                  <a:txBody>
                    <a:bodyPr/>
                    <a:lstStyle/>
                    <a:p>
                      <a:r>
                        <a:rPr sz="1725" b="0">
                          <a:solidFill>
                            <a:srgbClr val="142D3B"/>
                          </a:solidFill>
                          <a:latin typeface="Arial"/>
                          <a:ea typeface="Arial"/>
                          <a:cs typeface="Arial"/>
                        </a:rPr>
                        <a:t>000049</a:t>
                      </a:r>
                    </a:p>
                  </a:txBody>
                  <a:tcPr marL="91440" marR="91440" marT="45720" marB="45720">
                    <a:solidFill>
                      <a:srgbClr val="EFF5F7"/>
                    </a:solidFill>
                  </a:tcPr>
                </a:tc>
                <a:tc>
                  <a:txBody>
                    <a:bodyPr/>
                    <a:lstStyle/>
                    <a:p>
                      <a:r>
                        <a:rPr sz="1725" b="0">
                          <a:solidFill>
                            <a:srgbClr val="142D3B"/>
                          </a:solidFill>
                          <a:latin typeface="Arial"/>
                          <a:ea typeface="Arial"/>
                          <a:cs typeface="Arial"/>
                        </a:rPr>
                        <a:t>0.10</a:t>
                      </a:r>
                    </a:p>
                  </a:txBody>
                  <a:tcPr marL="91440" marR="91440" marT="45720" marB="45720">
                    <a:solidFill>
                      <a:srgbClr val="EFF5F7"/>
                    </a:solidFill>
                  </a:tcPr>
                </a:tc>
                <a:tc>
                  <a:txBody>
                    <a:bodyPr/>
                    <a:lstStyle/>
                    <a:p>
                      <a:r>
                        <a:rPr sz="1725" b="0">
                          <a:solidFill>
                            <a:srgbClr val="142D3B"/>
                          </a:solidFill>
                          <a:latin typeface="Arial"/>
                          <a:ea typeface="Arial"/>
                          <a:cs typeface="Arial"/>
                        </a:rPr>
                        <a:t>6682</a:t>
                      </a:r>
                    </a:p>
                  </a:txBody>
                  <a:tcPr marL="91440" marR="91440" marT="45720" marB="45720">
                    <a:solidFill>
                      <a:srgbClr val="EFF5F7"/>
                    </a:solidFill>
                  </a:tcPr>
                </a:tc>
                <a:tc>
                  <a:txBody>
                    <a:bodyPr/>
                    <a:lstStyle/>
                    <a:p>
                      <a:r>
                        <a:rPr sz="1725" b="0">
                          <a:solidFill>
                            <a:srgbClr val="142D3B"/>
                          </a:solidFill>
                          <a:latin typeface="Arial"/>
                          <a:ea typeface="Arial"/>
                          <a:cs typeface="Arial"/>
                        </a:rPr>
                        <a:t>44</a:t>
                      </a:r>
                    </a:p>
                  </a:txBody>
                  <a:tcPr marL="91440" marR="91440" marT="45720" marB="45720">
                    <a:solidFill>
                      <a:srgbClr val="EFF5F7"/>
                    </a:solidFill>
                  </a:tcPr>
                </a:tc>
                <a:tc>
                  <a:txBody>
                    <a:bodyPr/>
                    <a:lstStyle/>
                    <a:p>
                      <a:r>
                        <a:rPr sz="1725" b="0">
                          <a:solidFill>
                            <a:srgbClr val="142D3B"/>
                          </a:solidFill>
                          <a:latin typeface="Arial"/>
                          <a:ea typeface="Arial"/>
                          <a:cs typeface="Arial"/>
                        </a:rPr>
                        <a:t>2.62</a:t>
                      </a:r>
                    </a:p>
                  </a:txBody>
                  <a:tcPr marL="91440" marR="91440" marT="45720" marB="45720">
                    <a:solidFill>
                      <a:srgbClr val="EFF5F7"/>
                    </a:solidFill>
                  </a:tcPr>
                </a:tc>
                <a:tc>
                  <a:txBody>
                    <a:bodyPr/>
                    <a:lstStyle/>
                    <a:p>
                      <a:r>
                        <a:rPr sz="1725" b="0">
                          <a:solidFill>
                            <a:srgbClr val="142D3B"/>
                          </a:solidFill>
                          <a:latin typeface="Arial"/>
                          <a:ea typeface="Arial"/>
                          <a:cs typeface="Arial"/>
                        </a:rPr>
                        <a:t>69.5</a:t>
                      </a:r>
                    </a:p>
                  </a:txBody>
                  <a:tcPr marL="91440" marR="91440" marT="45720" marB="45720">
                    <a:solidFill>
                      <a:srgbClr val="EFF5F7"/>
                    </a:solidFill>
                  </a:tcPr>
                </a:tc>
              </a:tr>
              <a:tr h="398145">
                <a:tc>
                  <a:txBody>
                    <a:bodyPr/>
                    <a:lstStyle/>
                    <a:p>
                      <a:r>
                        <a:rPr sz="1725" b="0">
                          <a:solidFill>
                            <a:srgbClr val="142D3B"/>
                          </a:solidFill>
                          <a:latin typeface="Arial"/>
                          <a:ea typeface="Arial"/>
                          <a:cs typeface="Arial"/>
                        </a:rPr>
                        <a:t>000049</a:t>
                      </a:r>
                    </a:p>
                  </a:txBody>
                  <a:tcPr marL="91440" marR="91440" marT="45720" marB="45720">
                    <a:solidFill>
                      <a:srgbClr val="FFFFFF"/>
                    </a:solidFill>
                  </a:tcPr>
                </a:tc>
                <a:tc>
                  <a:txBody>
                    <a:bodyPr/>
                    <a:lstStyle/>
                    <a:p>
                      <a:r>
                        <a:rPr sz="1725" b="0">
                          <a:solidFill>
                            <a:srgbClr val="142D3B"/>
                          </a:solidFill>
                          <a:latin typeface="Arial"/>
                          <a:ea typeface="Arial"/>
                          <a:cs typeface="Arial"/>
                        </a:rPr>
                        <a:t>0.30</a:t>
                      </a:r>
                    </a:p>
                  </a:txBody>
                  <a:tcPr marL="91440" marR="91440" marT="45720" marB="45720">
                    <a:solidFill>
                      <a:srgbClr val="FFFFFF"/>
                    </a:solidFill>
                  </a:tcPr>
                </a:tc>
                <a:tc>
                  <a:txBody>
                    <a:bodyPr/>
                    <a:lstStyle/>
                    <a:p>
                      <a:r>
                        <a:rPr sz="1725" b="0">
                          <a:solidFill>
                            <a:srgbClr val="142D3B"/>
                          </a:solidFill>
                          <a:latin typeface="Arial"/>
                          <a:ea typeface="Arial"/>
                          <a:cs typeface="Arial"/>
                        </a:rPr>
                        <a:t>5594</a:t>
                      </a:r>
                    </a:p>
                  </a:txBody>
                  <a:tcPr marL="91440" marR="91440" marT="45720" marB="45720">
                    <a:solidFill>
                      <a:srgbClr val="FFFFFF"/>
                    </a:solidFill>
                  </a:tcPr>
                </a:tc>
                <a:tc>
                  <a:txBody>
                    <a:bodyPr/>
                    <a:lstStyle/>
                    <a:p>
                      <a:r>
                        <a:rPr sz="1725" b="0">
                          <a:solidFill>
                            <a:srgbClr val="142D3B"/>
                          </a:solidFill>
                          <a:latin typeface="Arial"/>
                          <a:ea typeface="Arial"/>
                          <a:cs typeface="Arial"/>
                        </a:rPr>
                        <a:t>41</a:t>
                      </a:r>
                    </a:p>
                  </a:txBody>
                  <a:tcPr marL="91440" marR="91440" marT="45720" marB="45720">
                    <a:solidFill>
                      <a:srgbClr val="FFFFFF"/>
                    </a:solidFill>
                  </a:tcPr>
                </a:tc>
                <a:tc>
                  <a:txBody>
                    <a:bodyPr/>
                    <a:lstStyle/>
                    <a:p>
                      <a:r>
                        <a:rPr sz="1725" b="0">
                          <a:solidFill>
                            <a:srgbClr val="142D3B"/>
                          </a:solidFill>
                          <a:latin typeface="Arial"/>
                          <a:ea typeface="Arial"/>
                          <a:cs typeface="Arial"/>
                        </a:rPr>
                        <a:t>2.62</a:t>
                      </a:r>
                    </a:p>
                  </a:txBody>
                  <a:tcPr marL="91440" marR="91440" marT="45720" marB="45720">
                    <a:solidFill>
                      <a:srgbClr val="FFFFFF"/>
                    </a:solidFill>
                  </a:tcPr>
                </a:tc>
                <a:tc>
                  <a:txBody>
                    <a:bodyPr/>
                    <a:lstStyle/>
                    <a:p>
                      <a:r>
                        <a:rPr sz="1725" b="0">
                          <a:solidFill>
                            <a:srgbClr val="142D3B"/>
                          </a:solidFill>
                          <a:latin typeface="Arial"/>
                          <a:ea typeface="Arial"/>
                          <a:cs typeface="Arial"/>
                        </a:rPr>
                        <a:t>47.8</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C8A52309-7367-4C34-9A54-EE87142A5323}"/>
              </a:ext>
            </a:extLst>
          </p:cNvPr>
          <p:cNvSpPr>
            <a:spLocks xmlns:a="http://schemas.openxmlformats.org/drawingml/2006/main" noGrp="1"/>
          </p:cNvSpPr>
          <p:nvPr/>
        </p:nvSpPr>
        <p:spPr>
          <a:xfrm xmlns:a="http://schemas.openxmlformats.org/drawingml/2006/main">
            <a:off x="552450" y="5715000"/>
            <a:ext cx="11087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27A9C"/>
                </a:solidFill>
                <a:latin typeface="Arial"/>
                <a:ea typeface="Arial"/>
                <a:cs typeface="Arial"/>
              </a:defRPr>
            </a:pPr>
            <a:r>
              <a:rPr sz="1875" b="0">
                <a:solidFill>
                  <a:srgbClr val="127A9C"/>
                </a:solidFill>
                <a:latin typeface="Arial"/>
                <a:ea typeface="Arial"/>
                <a:cs typeface="Arial"/>
              </a:rPr>
              <a:t>Đổi riêng RANSAC · giữ eps 0.5 m, voxel 0.15 m, min_points 10</a:t>
            </a:r>
          </a:p>
        </p:txBody>
      </p:sp>
      <p:sp>
        <p:nvSpPr>
          <p:cNvPr id="4" name="">
            <a:extLst xmlns:a="http://schemas.openxmlformats.org/drawingml/2006/main">
              <a:ext uri="{FF2B5EF4-FFF2-40B4-BE49-F238E27FC236}">
                <a16:creationId xmlns:a16="http://schemas.microsoft.com/office/drawing/2014/main" id="{D0676844-E11E-46C9-9296-5DB87373C7BC}"/>
              </a:ext>
            </a:extLst>
          </p:cNvPr>
          <p:cNvSpPr>
            <a:spLocks xmlns:a="http://schemas.openxmlformats.org/drawingml/2006/main" noGrp="1"/>
          </p:cNvSpPr>
          <p:nvPr/>
        </p:nvSpPr>
        <p:spPr>
          <a:xfrm xmlns:a="http://schemas.openxmlformats.org/drawingml/2006/main">
            <a:off x="552450" y="6210300"/>
            <a:ext cx="11087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874"/>
                </a:solidFill>
                <a:latin typeface="Arial"/>
                <a:ea typeface="Arial"/>
                <a:cs typeface="Arial"/>
              </a:defRPr>
            </a:pPr>
            <a:r>
              <a:rPr sz="1800" b="0">
                <a:solidFill>
                  <a:srgbClr val="526874"/>
                </a:solidFill>
                <a:latin typeface="Arial"/>
                <a:ea typeface="Arial"/>
                <a:cs typeface="Arial"/>
              </a:rPr>
              <a:t>360 lượt đo · 20 lượt/cấu hình sau warm-up · p50/p95 trong REPORT</a:t>
            </a:r>
          </a:p>
        </p:txBody>
      </p:sp>
    </p:spTree>
    <p:extLst>
      <p:ext uri="{BB962C8B-B14F-4D97-AF65-F5344CB8AC3E}">
        <p14:creationId xmlns:p14="http://schemas.microsoft.com/office/powerpoint/2010/main" val="27064336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52F2028-5459-4AEE-937E-206AEE7E697F}"/>
              </a:ext>
            </a:extLst>
          </p:cNvPr>
          <p:cNvSpPr>
            <a:spLocks xmlns:a="http://schemas.openxmlformats.org/drawingml/2006/main" noGrp="1"/>
          </p:cNvSpPr>
          <p:nvPr/>
        </p:nvSpPr>
        <p:spPr>
          <a:xfrm xmlns:a="http://schemas.openxmlformats.org/drawingml/2006/main">
            <a:off x="457200" y="304800"/>
            <a:ext cx="11277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D3B"/>
                </a:solidFill>
                <a:latin typeface="Arial"/>
                <a:ea typeface="Arial"/>
                <a:cs typeface="Arial"/>
              </a:defRPr>
            </a:pPr>
            <a:r>
              <a:rPr sz="2850" b="1">
                <a:solidFill>
                  <a:srgbClr val="142D3B"/>
                </a:solidFill>
                <a:latin typeface="Arial"/>
                <a:ea typeface="Arial"/>
                <a:cs typeface="Arial"/>
              </a:rPr>
              <a:t>Failure: hai người có cùng cụm trội khi eps = 0.8 m</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485ef9dfddb64d44"/>
          <a:stretch xmlns:a="http://schemas.openxmlformats.org/drawingml/2006/main"/>
        </p:blipFill>
        <p:spPr>
          <a:xfrm xmlns:a="http://schemas.openxmlformats.org/drawingml/2006/main">
            <a:off x="1774031" y="1295400"/>
            <a:ext cx="8643938" cy="471487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716C0E6-0297-4C38-AE91-E19F256AFDD3}"/>
              </a:ext>
            </a:extLst>
          </p:cNvPr>
          <p:cNvSpPr>
            <a:spLocks xmlns:a="http://schemas.openxmlformats.org/drawingml/2006/main" noGrp="1"/>
          </p:cNvSpPr>
          <p:nvPr/>
        </p:nvSpPr>
        <p:spPr>
          <a:xfrm xmlns:a="http://schemas.openxmlformats.org/drawingml/2006/main">
            <a:off x="476250" y="6248400"/>
            <a:ext cx="1123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74"/>
                </a:solidFill>
                <a:latin typeface="Arial"/>
                <a:ea typeface="Arial"/>
                <a:cs typeface="Arial"/>
              </a:defRPr>
            </a:pPr>
            <a:r>
              <a:rPr sz="1725" b="0">
                <a:solidFill>
                  <a:srgbClr val="526874"/>
                </a:solidFill>
                <a:latin typeface="Arial"/>
                <a:ea typeface="Arial"/>
                <a:cs typeface="Arial"/>
              </a:rPr>
              <a:t>Preprocess · min_points = 5 ở cả hai cấu hình · seed/ROI/voxel/ground cố định</a:t>
            </a:r>
          </a:p>
        </p:txBody>
      </p:sp>
    </p:spTree>
    <p:extLst>
      <p:ext uri="{BB962C8B-B14F-4D97-AF65-F5344CB8AC3E}">
        <p14:creationId xmlns:p14="http://schemas.microsoft.com/office/powerpoint/2010/main" val="138134840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2DCCEA7-C507-429B-8BFC-E2742D3E671E}"/>
              </a:ext>
            </a:extLst>
          </p:cNvPr>
          <p:cNvSpPr>
            <a:spLocks xmlns:a="http://schemas.openxmlformats.org/drawingml/2006/main" noGrp="1"/>
          </p:cNvSpPr>
          <p:nvPr/>
        </p:nvSpPr>
        <p:spPr>
          <a:xfrm xmlns:a="http://schemas.openxmlformats.org/drawingml/2006/main">
            <a:off x="457200" y="304800"/>
            <a:ext cx="11277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D3B"/>
                </a:solidFill>
                <a:latin typeface="Arial"/>
                <a:ea typeface="Arial"/>
                <a:cs typeface="Arial"/>
              </a:defRPr>
            </a:pPr>
            <a:r>
              <a:rPr sz="2850" b="1">
                <a:solidFill>
                  <a:srgbClr val="142D3B"/>
                </a:solidFill>
                <a:latin typeface="Arial"/>
                <a:ea typeface="Arial"/>
                <a:cs typeface="Arial"/>
              </a:rPr>
              <a:t>Triển khai robot kho: theo dõi latency và lỗi tách cụm</a:t>
            </a:r>
          </a:p>
        </p:txBody>
      </p:sp>
      <p:sp>
        <p:nvSpPr>
          <p:cNvPr id="2" name="">
            <a:extLst xmlns:a="http://schemas.openxmlformats.org/drawingml/2006/main">
              <a:ext uri="{FF2B5EF4-FFF2-40B4-BE49-F238E27FC236}">
                <a16:creationId xmlns:a16="http://schemas.microsoft.com/office/drawing/2014/main" id="{87495B62-0A5F-4FB4-AC05-F68A6E5661FD}"/>
              </a:ext>
            </a:extLst>
          </p:cNvPr>
          <p:cNvSpPr>
            <a:spLocks xmlns:a="http://schemas.openxmlformats.org/drawingml/2006/main" noGrp="1"/>
          </p:cNvSpPr>
          <p:nvPr/>
        </p:nvSpPr>
        <p:spPr>
          <a:xfrm xmlns:a="http://schemas.openxmlformats.org/drawingml/2006/main">
            <a:off x="533400"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27A9C"/>
                </a:solidFill>
                <a:latin typeface="Arial"/>
                <a:ea typeface="Arial"/>
                <a:cs typeface="Arial"/>
              </a:defRPr>
            </a:pPr>
            <a:r>
              <a:rPr sz="2250" b="1">
                <a:solidFill>
                  <a:srgbClr val="127A9C"/>
                </a:solidFill>
                <a:latin typeface="Arial"/>
                <a:ea typeface="Arial"/>
                <a:cs typeface="Arial"/>
              </a:rPr>
              <a:t>Cấu hình khởi đầu</a:t>
            </a:r>
          </a:p>
        </p:txBody>
      </p:sp>
      <p:sp>
        <p:nvSpPr>
          <p:cNvPr id="3" name="">
            <a:extLst xmlns:a="http://schemas.openxmlformats.org/drawingml/2006/main">
              <a:ext uri="{FF2B5EF4-FFF2-40B4-BE49-F238E27FC236}">
                <a16:creationId xmlns:a16="http://schemas.microsoft.com/office/drawing/2014/main" id="{F2405743-70D8-4190-B58B-C5C9CE93B726}"/>
              </a:ext>
            </a:extLst>
          </p:cNvPr>
          <p:cNvSpPr>
            <a:spLocks xmlns:a="http://schemas.openxmlformats.org/drawingml/2006/main" noGrp="1"/>
          </p:cNvSpPr>
          <p:nvPr/>
        </p:nvSpPr>
        <p:spPr>
          <a:xfrm xmlns:a="http://schemas.openxmlformats.org/drawingml/2006/main">
            <a:off x="533400" y="1952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voxel 0.15 m · RANSAC 0.1 m · eps 0.5 m</a:t>
            </a:r>
          </a:p>
          <a:p xmlns:a="http://schemas.openxmlformats.org/drawingml/2006/main">
            <a:pPr>
              <a:defRPr sz="2250" b="0">
                <a:solidFill>
                  <a:srgbClr val="142D3B"/>
                </a:solidFill>
                <a:latin typeface="Arial"/>
                <a:ea typeface="Arial"/>
                <a:cs typeface="Arial"/>
              </a:defRPr>
            </a:pPr>
            <a:r>
              <a:rPr sz="2250" b="0">
                <a:solidFill>
                  <a:srgbClr val="142D3B"/>
                </a:solidFill>
                <a:latin typeface="Arial"/>
                <a:ea typeface="Arial"/>
                <a:cs typeface="Arial"/>
              </a:rPr>
              <a:t>Kiểm thử thêm vật thấp, sàn dốc và LiDAR của robot</a:t>
            </a:r>
          </a:p>
        </p:txBody>
      </p:sp>
      <p:sp>
        <p:nvSpPr>
          <p:cNvPr id="4" name="">
            <a:extLst xmlns:a="http://schemas.openxmlformats.org/drawingml/2006/main">
              <a:ext uri="{FF2B5EF4-FFF2-40B4-BE49-F238E27FC236}">
                <a16:creationId xmlns:a16="http://schemas.microsoft.com/office/drawing/2014/main" id="{CBD14D69-2E6F-430F-8902-25D48AFF0F92}"/>
              </a:ext>
            </a:extLst>
          </p:cNvPr>
          <p:cNvSpPr>
            <a:spLocks xmlns:a="http://schemas.openxmlformats.org/drawingml/2006/main" noGrp="1"/>
          </p:cNvSpPr>
          <p:nvPr/>
        </p:nvSpPr>
        <p:spPr>
          <a:xfrm xmlns:a="http://schemas.openxmlformats.org/drawingml/2006/main">
            <a:off x="533400" y="32670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27A9C"/>
                </a:solidFill>
                <a:latin typeface="Arial"/>
                <a:ea typeface="Arial"/>
                <a:cs typeface="Arial"/>
              </a:defRPr>
            </a:pPr>
            <a:r>
              <a:rPr sz="2250" b="1">
                <a:solidFill>
                  <a:srgbClr val="127A9C"/>
                </a:solidFill>
                <a:latin typeface="Arial"/>
                <a:ea typeface="Arial"/>
                <a:cs typeface="Arial"/>
              </a:rPr>
              <a:t>Log khi chạy thật</a:t>
            </a:r>
          </a:p>
        </p:txBody>
      </p:sp>
      <p:sp>
        <p:nvSpPr>
          <p:cNvPr id="5" name="">
            <a:extLst xmlns:a="http://schemas.openxmlformats.org/drawingml/2006/main">
              <a:ext uri="{FF2B5EF4-FFF2-40B4-BE49-F238E27FC236}">
                <a16:creationId xmlns:a16="http://schemas.microsoft.com/office/drawing/2014/main" id="{C8D9D803-891E-43A3-9F9A-EF74AF92D124}"/>
              </a:ext>
            </a:extLst>
          </p:cNvPr>
          <p:cNvSpPr>
            <a:spLocks xmlns:a="http://schemas.openxmlformats.org/drawingml/2006/main" noGrp="1"/>
          </p:cNvSpPr>
          <p:nvPr/>
        </p:nvSpPr>
        <p:spPr>
          <a:xfrm xmlns:a="http://schemas.openxmlformats.org/drawingml/2006/main">
            <a:off x="533400" y="38385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plane/tilt · mật độ điểm · số/kích thước cụm · nearest_m · p95</a:t>
            </a:r>
          </a:p>
          <a:p xmlns:a="http://schemas.openxmlformats.org/drawingml/2006/main">
            <a:pPr>
              <a:defRPr sz="2100" b="0">
                <a:solidFill>
                  <a:srgbClr val="142D3B"/>
                </a:solidFill>
                <a:latin typeface="Arial"/>
                <a:ea typeface="Arial"/>
                <a:cs typeface="Arial"/>
              </a:defRPr>
            </a:pPr>
            <a:r>
              <a:rPr sz="2100" b="0">
                <a:solidFill>
                  <a:srgbClr val="142D3B"/>
                </a:solidFill>
                <a:latin typeface="Arial"/>
                <a:ea typeface="Arial"/>
                <a:cs typeface="Arial"/>
              </a:rPr>
              <a:t>Fit lỗi, tilt &gt;20° hoặc p95 &gt;200 ms: cờ giảm tốc/kiểm tra</a:t>
            </a:r>
          </a:p>
        </p:txBody>
      </p:sp>
      <p:sp>
        <p:nvSpPr>
          <p:cNvPr id="6" name="">
            <a:extLst xmlns:a="http://schemas.openxmlformats.org/drawingml/2006/main">
              <a:ext uri="{FF2B5EF4-FFF2-40B4-BE49-F238E27FC236}">
                <a16:creationId xmlns:a16="http://schemas.microsoft.com/office/drawing/2014/main" id="{51E66687-92C0-48DC-81FC-C7EC300C884E}"/>
              </a:ext>
            </a:extLst>
          </p:cNvPr>
          <p:cNvSpPr>
            <a:spLocks xmlns:a="http://schemas.openxmlformats.org/drawingml/2006/main" noGrp="1"/>
          </p:cNvSpPr>
          <p:nvPr/>
        </p:nvSpPr>
        <p:spPr>
          <a:xfrm xmlns:a="http://schemas.openxmlformats.org/drawingml/2006/main">
            <a:off x="533400" y="51244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27A9C"/>
                </a:solidFill>
                <a:latin typeface="Arial"/>
                <a:ea typeface="Arial"/>
                <a:cs typeface="Arial"/>
              </a:defRPr>
            </a:pPr>
            <a:r>
              <a:rPr sz="2250" b="1">
                <a:solidFill>
                  <a:srgbClr val="127A9C"/>
                </a:solidFill>
                <a:latin typeface="Arial"/>
                <a:ea typeface="Arial"/>
                <a:cs typeface="Arial"/>
              </a:rPr>
              <a:t>Chạy lại và demo</a:t>
            </a:r>
          </a:p>
        </p:txBody>
      </p:sp>
      <p:sp>
        <p:nvSpPr>
          <p:cNvPr id="7" name="">
            <a:extLst xmlns:a="http://schemas.openxmlformats.org/drawingml/2006/main">
              <a:ext uri="{FF2B5EF4-FFF2-40B4-BE49-F238E27FC236}">
                <a16:creationId xmlns:a16="http://schemas.microsoft.com/office/drawing/2014/main" id="{A0F176EE-A0C7-4082-A702-A8CF85060455}"/>
              </a:ext>
            </a:extLst>
          </p:cNvPr>
          <p:cNvSpPr>
            <a:spLocks xmlns:a="http://schemas.openxmlformats.org/drawingml/2006/main" noGrp="1"/>
          </p:cNvSpPr>
          <p:nvPr/>
        </p:nvSpPr>
        <p:spPr>
          <a:xfrm xmlns:a="http://schemas.openxmlformats.org/drawingml/2006/main">
            <a:off x="533400" y="56578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D3B"/>
                </a:solidFill>
                <a:latin typeface="Arial"/>
                <a:ea typeface="Arial"/>
                <a:cs typeface="Arial"/>
              </a:defRPr>
            </a:pPr>
            <a:r>
              <a:rPr sz="1950" b="0">
                <a:solidFill>
                  <a:srgbClr val="142D3B"/>
                </a:solidFill>
                <a:latin typeface="Arial"/>
                <a:ea typeface="Arial"/>
                <a:cs typeface="Arial"/>
              </a:rPr>
              <a:t>python -m src.experiment    |    python -m src.failure</a:t>
            </a:r>
          </a:p>
          <a:p xmlns:a="http://schemas.openxmlformats.org/drawingml/2006/main">
            <a:pPr>
              <a:defRPr sz="1950" b="0">
                <a:solidFill>
                  <a:srgbClr val="142D3B"/>
                </a:solidFill>
                <a:latin typeface="Arial"/>
                <a:ea typeface="Arial"/>
                <a:cs typeface="Arial"/>
              </a:defRPr>
            </a:pPr>
            <a:r>
              <a:rPr sz="1950" b="0">
                <a:solidFill>
                  <a:srgbClr val="142D3B"/>
                </a:solidFill>
                <a:latin typeface="Arial"/>
                <a:ea typeface="Arial"/>
                <a:cs typeface="Arial"/>
              </a:rPr>
              <a:t>python tools/check_submission.py</a:t>
            </a:r>
          </a:p>
        </p:txBody>
      </p:sp>
    </p:spTree>
    <p:extLst>
      <p:ext uri="{BB962C8B-B14F-4D97-AF65-F5344CB8AC3E}">
        <p14:creationId xmlns:p14="http://schemas.microsoft.com/office/powerpoint/2010/main" val="17682855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2026-10-07T17:34:38.4750000Z</dcterms:created>
  <dcterms:modified xsi:type="dcterms:W3CDTF">2026-10-07T17:34:38.4750000Z</dcterms:modified>
</coreProperties>
</file>